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63" r:id="rId4"/>
    <p:sldMasterId id="2147483669" r:id="rId5"/>
    <p:sldMasterId id="2147483682" r:id="rId6"/>
  </p:sldMasterIdLst>
  <p:notesMasterIdLst>
    <p:notesMasterId r:id="rId38"/>
  </p:notesMasterIdLst>
  <p:handoutMasterIdLst>
    <p:handoutMasterId r:id="rId39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3" r:id="rId13"/>
    <p:sldId id="262" r:id="rId14"/>
    <p:sldId id="265" r:id="rId15"/>
    <p:sldId id="328" r:id="rId16"/>
    <p:sldId id="267" r:id="rId17"/>
    <p:sldId id="268" r:id="rId18"/>
    <p:sldId id="269" r:id="rId19"/>
    <p:sldId id="271" r:id="rId20"/>
    <p:sldId id="273" r:id="rId21"/>
    <p:sldId id="272" r:id="rId22"/>
    <p:sldId id="274" r:id="rId23"/>
    <p:sldId id="275" r:id="rId24"/>
    <p:sldId id="276" r:id="rId25"/>
    <p:sldId id="329" r:id="rId26"/>
    <p:sldId id="330" r:id="rId27"/>
    <p:sldId id="279" r:id="rId28"/>
    <p:sldId id="281" r:id="rId29"/>
    <p:sldId id="282" r:id="rId30"/>
    <p:sldId id="283" r:id="rId31"/>
    <p:sldId id="284" r:id="rId32"/>
    <p:sldId id="286" r:id="rId33"/>
    <p:sldId id="287" r:id="rId34"/>
    <p:sldId id="288" r:id="rId35"/>
    <p:sldId id="289" r:id="rId36"/>
    <p:sldId id="291" r:id="rId37"/>
  </p:sldIdLst>
  <p:sldSz cx="12192000" cy="6858000"/>
  <p:notesSz cx="6858000" cy="9144000"/>
  <p:custDataLst>
    <p:tags r:id="rId4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0F17"/>
    <a:srgbClr val="CA0810"/>
    <a:srgbClr val="333F50"/>
    <a:srgbClr val="445469"/>
    <a:srgbClr val="EBF1E9"/>
    <a:srgbClr val="3475B1"/>
    <a:srgbClr val="4A6AB2"/>
    <a:srgbClr val="2F73B3"/>
    <a:srgbClr val="2F72B3"/>
    <a:srgbClr val="696B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/>
    <p:restoredTop sz="94660"/>
  </p:normalViewPr>
  <p:slideViewPr>
    <p:cSldViewPr snapToGrid="0" showGuides="1">
      <p:cViewPr varScale="1">
        <p:scale>
          <a:sx n="90" d="100"/>
          <a:sy n="90" d="100"/>
        </p:scale>
        <p:origin x="-108" y="-594"/>
      </p:cViewPr>
      <p:guideLst>
        <p:guide orient="horz" pos="2189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31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4" Type="http://schemas.openxmlformats.org/officeDocument/2006/relationships/tags" Target="tags/tag1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handoutMaster" Target="handoutMasters/handoutMaster1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586595" y="218440"/>
            <a:ext cx="2307590" cy="398780"/>
            <a:chOff x="1308" y="9881"/>
            <a:chExt cx="3634" cy="628"/>
          </a:xfrm>
        </p:grpSpPr>
        <p:sp>
          <p:nvSpPr>
            <p:cNvPr id="8" name="文本框 7"/>
            <p:cNvSpPr txBox="1"/>
            <p:nvPr/>
          </p:nvSpPr>
          <p:spPr>
            <a:xfrm>
              <a:off x="1581" y="9881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Python</a:t>
              </a:r>
              <a:r>
                <a:rPr lang="zh-CN" alt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程序设计</a:t>
              </a:r>
              <a:endPara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charset="-122"/>
                <a:ea typeface="南宋书局体" panose="02000000000000000000" charset="-122"/>
                <a:cs typeface="南宋书局体" panose="02000000000000000000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308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705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461" y="1785926"/>
            <a:ext cx="8096307" cy="3000396"/>
          </a:xfrm>
        </p:spPr>
        <p:txBody>
          <a:bodyPr/>
          <a:lstStyle>
            <a:lvl1pPr>
              <a:defRPr sz="4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方正大黑简体" panose="03000509000000000000" charset="-122"/>
                <a:ea typeface="方正大黑简体" panose="03000509000000000000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方正大黑简体" panose="03000509000000000000" charset="-122"/>
                <a:ea typeface="方正大黑简体" panose="03000509000000000000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AutoShape 3"/>
          <p:cNvSpPr>
            <a:spLocks noChangeArrowheads="1"/>
          </p:cNvSpPr>
          <p:nvPr userDrawn="1"/>
        </p:nvSpPr>
        <p:spPr bwMode="auto">
          <a:xfrm>
            <a:off x="1496484" y="1839491"/>
            <a:ext cx="8346016" cy="6667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18900000" scaled="1"/>
          </a:gradFill>
          <a:ln w="9525" cmpd="sng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/>
          <p:cNvSpPr>
            <a:spLocks noChangeArrowheads="1"/>
          </p:cNvSpPr>
          <p:nvPr userDrawn="1"/>
        </p:nvSpPr>
        <p:spPr bwMode="auto">
          <a:xfrm>
            <a:off x="1496484" y="2953916"/>
            <a:ext cx="8346016" cy="6667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18900000" scaled="1"/>
          </a:gradFill>
          <a:ln w="9525" cmpd="sng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7"/>
          <p:cNvSpPr>
            <a:spLocks noChangeArrowheads="1"/>
          </p:cNvSpPr>
          <p:nvPr userDrawn="1"/>
        </p:nvSpPr>
        <p:spPr bwMode="auto">
          <a:xfrm>
            <a:off x="1496484" y="4047704"/>
            <a:ext cx="8346016" cy="6667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18900000" scaled="1"/>
          </a:gradFill>
          <a:ln w="9525" cmpd="sng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9"/>
          <p:cNvSpPr>
            <a:spLocks noChangeArrowheads="1"/>
          </p:cNvSpPr>
          <p:nvPr userDrawn="1"/>
        </p:nvSpPr>
        <p:spPr bwMode="auto">
          <a:xfrm>
            <a:off x="1496484" y="5141491"/>
            <a:ext cx="8346016" cy="6667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18900000" scaled="1"/>
          </a:gradFill>
          <a:ln w="9525" cmpd="sng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Group 11"/>
          <p:cNvGrpSpPr/>
          <p:nvPr userDrawn="1"/>
        </p:nvGrpSpPr>
        <p:grpSpPr bwMode="auto">
          <a:xfrm>
            <a:off x="9156700" y="1772817"/>
            <a:ext cx="1100667" cy="803275"/>
            <a:chOff x="0" y="0"/>
            <a:chExt cx="384" cy="375"/>
          </a:xfrm>
        </p:grpSpPr>
        <p:grpSp>
          <p:nvGrpSpPr>
            <p:cNvPr id="13" name="Group 12"/>
            <p:cNvGrpSpPr/>
            <p:nvPr/>
          </p:nvGrpSpPr>
          <p:grpSpPr bwMode="auto">
            <a:xfrm>
              <a:off x="0" y="0"/>
              <a:ext cx="384" cy="375"/>
              <a:chOff x="0" y="0"/>
              <a:chExt cx="1042" cy="1019"/>
            </a:xfrm>
          </p:grpSpPr>
          <p:grpSp>
            <p:nvGrpSpPr>
              <p:cNvPr id="15" name="Group 13"/>
              <p:cNvGrpSpPr/>
              <p:nvPr/>
            </p:nvGrpSpPr>
            <p:grpSpPr bwMode="auto">
              <a:xfrm>
                <a:off x="0" y="0"/>
                <a:ext cx="1042" cy="1019"/>
                <a:chOff x="0" y="0"/>
                <a:chExt cx="1042" cy="1019"/>
              </a:xfrm>
            </p:grpSpPr>
            <p:pic>
              <p:nvPicPr>
                <p:cNvPr id="17" name="Picture 14" descr="circuler_1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0" y="0"/>
                  <a:ext cx="1042" cy="10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8" name="Oval 1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35" cy="101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19050" cmpd="sng">
                  <a:solidFill>
                    <a:schemeClr val="bg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16" name="Picture 16" descr="Picture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04" y="10"/>
                <a:ext cx="823" cy="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4" name="WordArt 17"/>
            <p:cNvSpPr>
              <a:spLocks noChangeArrowheads="1" noChangeShapeType="1"/>
            </p:cNvSpPr>
            <p:nvPr/>
          </p:nvSpPr>
          <p:spPr bwMode="auto">
            <a:xfrm>
              <a:off x="152" y="101"/>
              <a:ext cx="87" cy="15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2400" dirty="0">
                  <a:ln w="9525" cmpd="sng">
                    <a:solidFill>
                      <a:schemeClr val="bg1"/>
                    </a:solidFill>
                    <a:round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ln w="9525" cmpd="sng">
                  <a:solidFill>
                    <a:schemeClr val="bg1"/>
                  </a:solidFill>
                  <a:round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Group 18"/>
          <p:cNvGrpSpPr/>
          <p:nvPr userDrawn="1"/>
        </p:nvGrpSpPr>
        <p:grpSpPr bwMode="auto">
          <a:xfrm>
            <a:off x="9156700" y="2887242"/>
            <a:ext cx="1100667" cy="803275"/>
            <a:chOff x="0" y="0"/>
            <a:chExt cx="520" cy="506"/>
          </a:xfrm>
        </p:grpSpPr>
        <p:grpSp>
          <p:nvGrpSpPr>
            <p:cNvPr id="20" name="Group 19"/>
            <p:cNvGrpSpPr/>
            <p:nvPr/>
          </p:nvGrpSpPr>
          <p:grpSpPr bwMode="auto">
            <a:xfrm>
              <a:off x="0" y="0"/>
              <a:ext cx="520" cy="506"/>
              <a:chOff x="0" y="0"/>
              <a:chExt cx="1042" cy="1019"/>
            </a:xfrm>
          </p:grpSpPr>
          <p:grpSp>
            <p:nvGrpSpPr>
              <p:cNvPr id="22" name="Group 20"/>
              <p:cNvGrpSpPr/>
              <p:nvPr/>
            </p:nvGrpSpPr>
            <p:grpSpPr bwMode="auto">
              <a:xfrm>
                <a:off x="0" y="0"/>
                <a:ext cx="1042" cy="1019"/>
                <a:chOff x="0" y="0"/>
                <a:chExt cx="1042" cy="1019"/>
              </a:xfrm>
            </p:grpSpPr>
            <p:pic>
              <p:nvPicPr>
                <p:cNvPr id="24" name="Picture 21" descr="circuler_1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0" y="0"/>
                  <a:ext cx="1042" cy="10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5" name="Oval 2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35" cy="101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19050" cmpd="sng">
                  <a:solidFill>
                    <a:schemeClr val="bg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23" name="Picture 23" descr="Picture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04" y="10"/>
                <a:ext cx="823" cy="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21" name="WordArt 24"/>
            <p:cNvSpPr>
              <a:spLocks noChangeArrowheads="1" noChangeShapeType="1"/>
            </p:cNvSpPr>
            <p:nvPr/>
          </p:nvSpPr>
          <p:spPr bwMode="auto">
            <a:xfrm>
              <a:off x="194" y="136"/>
              <a:ext cx="144" cy="20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2400" dirty="0">
                  <a:ln w="9525" cmpd="sng">
                    <a:solidFill>
                      <a:schemeClr val="bg1"/>
                    </a:solidFill>
                    <a:round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ln w="9525" cmpd="sng">
                  <a:solidFill>
                    <a:schemeClr val="bg1"/>
                  </a:solidFill>
                  <a:round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Group 25"/>
          <p:cNvGrpSpPr/>
          <p:nvPr userDrawn="1"/>
        </p:nvGrpSpPr>
        <p:grpSpPr bwMode="auto">
          <a:xfrm>
            <a:off x="9156700" y="3979442"/>
            <a:ext cx="1100667" cy="803275"/>
            <a:chOff x="0" y="0"/>
            <a:chExt cx="520" cy="506"/>
          </a:xfrm>
        </p:grpSpPr>
        <p:grpSp>
          <p:nvGrpSpPr>
            <p:cNvPr id="27" name="Group 26"/>
            <p:cNvGrpSpPr/>
            <p:nvPr/>
          </p:nvGrpSpPr>
          <p:grpSpPr bwMode="auto">
            <a:xfrm>
              <a:off x="0" y="0"/>
              <a:ext cx="520" cy="506"/>
              <a:chOff x="0" y="0"/>
              <a:chExt cx="1042" cy="1019"/>
            </a:xfrm>
          </p:grpSpPr>
          <p:grpSp>
            <p:nvGrpSpPr>
              <p:cNvPr id="29" name="Group 27"/>
              <p:cNvGrpSpPr/>
              <p:nvPr/>
            </p:nvGrpSpPr>
            <p:grpSpPr bwMode="auto">
              <a:xfrm>
                <a:off x="0" y="0"/>
                <a:ext cx="1042" cy="1019"/>
                <a:chOff x="0" y="0"/>
                <a:chExt cx="1042" cy="1019"/>
              </a:xfrm>
            </p:grpSpPr>
            <p:pic>
              <p:nvPicPr>
                <p:cNvPr id="31" name="Picture 28" descr="circuler_1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0" y="0"/>
                  <a:ext cx="1042" cy="10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35" cy="101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19050" cmpd="sng">
                  <a:solidFill>
                    <a:schemeClr val="bg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30" name="Picture 30" descr="Picture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04" y="10"/>
                <a:ext cx="823" cy="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28" name="WordArt 31"/>
            <p:cNvSpPr>
              <a:spLocks noChangeArrowheads="1" noChangeShapeType="1"/>
            </p:cNvSpPr>
            <p:nvPr/>
          </p:nvSpPr>
          <p:spPr bwMode="auto">
            <a:xfrm>
              <a:off x="194" y="136"/>
              <a:ext cx="144" cy="20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2400">
                  <a:ln w="9525" cmpd="sng">
                    <a:solidFill>
                      <a:schemeClr val="bg1"/>
                    </a:solidFill>
                    <a:round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>
                <a:ln w="9525" cmpd="sng">
                  <a:solidFill>
                    <a:schemeClr val="bg1"/>
                  </a:solidFill>
                  <a:round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Group 32"/>
          <p:cNvGrpSpPr/>
          <p:nvPr userDrawn="1"/>
        </p:nvGrpSpPr>
        <p:grpSpPr bwMode="auto">
          <a:xfrm>
            <a:off x="9156700" y="5062117"/>
            <a:ext cx="1100667" cy="803275"/>
            <a:chOff x="0" y="0"/>
            <a:chExt cx="520" cy="506"/>
          </a:xfrm>
        </p:grpSpPr>
        <p:grpSp>
          <p:nvGrpSpPr>
            <p:cNvPr id="34" name="Group 33"/>
            <p:cNvGrpSpPr/>
            <p:nvPr/>
          </p:nvGrpSpPr>
          <p:grpSpPr bwMode="auto">
            <a:xfrm>
              <a:off x="0" y="0"/>
              <a:ext cx="520" cy="506"/>
              <a:chOff x="0" y="0"/>
              <a:chExt cx="1042" cy="1019"/>
            </a:xfrm>
          </p:grpSpPr>
          <p:grpSp>
            <p:nvGrpSpPr>
              <p:cNvPr id="36" name="Group 34"/>
              <p:cNvGrpSpPr/>
              <p:nvPr/>
            </p:nvGrpSpPr>
            <p:grpSpPr bwMode="auto">
              <a:xfrm>
                <a:off x="0" y="0"/>
                <a:ext cx="1042" cy="1019"/>
                <a:chOff x="0" y="0"/>
                <a:chExt cx="1042" cy="1019"/>
              </a:xfrm>
            </p:grpSpPr>
            <p:pic>
              <p:nvPicPr>
                <p:cNvPr id="38" name="Picture 35" descr="circuler_1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0" y="0"/>
                  <a:ext cx="1042" cy="10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9" name="Oval 3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35" cy="101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19050" cmpd="sng">
                  <a:solidFill>
                    <a:schemeClr val="bg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37" name="Picture 37" descr="Picture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04" y="10"/>
                <a:ext cx="823" cy="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35" name="WordArt 38"/>
            <p:cNvSpPr>
              <a:spLocks noChangeArrowheads="1" noChangeShapeType="1"/>
            </p:cNvSpPr>
            <p:nvPr/>
          </p:nvSpPr>
          <p:spPr bwMode="auto">
            <a:xfrm>
              <a:off x="170" y="136"/>
              <a:ext cx="168" cy="20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2400">
                  <a:ln w="9525" cmpd="sng">
                    <a:solidFill>
                      <a:schemeClr val="bg1"/>
                    </a:solidFill>
                    <a:round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400">
                <a:ln w="9525" cmpd="sng">
                  <a:solidFill>
                    <a:schemeClr val="bg1"/>
                  </a:solidFill>
                  <a:round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583268" y="1922592"/>
            <a:ext cx="7573433" cy="584200"/>
          </a:xfrm>
        </p:spPr>
        <p:txBody>
          <a:bodyPr/>
          <a:lstStyle>
            <a:lvl1pPr marL="0" indent="0">
              <a:buNone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1" name="文本占位符 39"/>
          <p:cNvSpPr>
            <a:spLocks noGrp="1"/>
          </p:cNvSpPr>
          <p:nvPr>
            <p:ph type="body" sz="quarter" idx="11"/>
          </p:nvPr>
        </p:nvSpPr>
        <p:spPr>
          <a:xfrm>
            <a:off x="1693124" y="3036466"/>
            <a:ext cx="7573433" cy="584200"/>
          </a:xfrm>
        </p:spPr>
        <p:txBody>
          <a:bodyPr/>
          <a:lstStyle>
            <a:lvl1pPr marL="0" indent="0">
              <a:buNone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39"/>
          <p:cNvSpPr>
            <a:spLocks noGrp="1"/>
          </p:cNvSpPr>
          <p:nvPr>
            <p:ph type="body" sz="quarter" idx="12"/>
          </p:nvPr>
        </p:nvSpPr>
        <p:spPr>
          <a:xfrm>
            <a:off x="1719537" y="4087796"/>
            <a:ext cx="7573433" cy="584200"/>
          </a:xfrm>
        </p:spPr>
        <p:txBody>
          <a:bodyPr/>
          <a:lstStyle>
            <a:lvl1pPr marL="0" indent="0">
              <a:buNone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3" name="文本占位符 39"/>
          <p:cNvSpPr>
            <a:spLocks noGrp="1"/>
          </p:cNvSpPr>
          <p:nvPr>
            <p:ph type="body" sz="quarter" idx="13"/>
          </p:nvPr>
        </p:nvSpPr>
        <p:spPr>
          <a:xfrm>
            <a:off x="1693124" y="5211892"/>
            <a:ext cx="7573433" cy="584200"/>
          </a:xfrm>
        </p:spPr>
        <p:txBody>
          <a:bodyPr/>
          <a:lstStyle>
            <a:lvl1pPr marL="0" indent="0">
              <a:buNone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" name="AutoShape 2"/>
          <p:cNvSpPr>
            <a:spLocks noChangeArrowheads="1"/>
          </p:cNvSpPr>
          <p:nvPr userDrawn="1"/>
        </p:nvSpPr>
        <p:spPr bwMode="auto">
          <a:xfrm>
            <a:off x="1490134" y="3460751"/>
            <a:ext cx="9218084" cy="2055813"/>
          </a:xfrm>
          <a:prstGeom prst="roundRect">
            <a:avLst>
              <a:gd name="adj" fmla="val 2778"/>
            </a:avLst>
          </a:pr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18900000" scaled="1"/>
          </a:gradFill>
          <a:ln w="9525" cmpd="sng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AutoShape 3"/>
          <p:cNvSpPr>
            <a:spLocks noChangeArrowheads="1"/>
          </p:cNvSpPr>
          <p:nvPr userDrawn="1"/>
        </p:nvSpPr>
        <p:spPr bwMode="auto">
          <a:xfrm>
            <a:off x="6864352" y="1731964"/>
            <a:ext cx="3839633" cy="936625"/>
          </a:xfrm>
          <a:prstGeom prst="roundRect">
            <a:avLst>
              <a:gd name="adj" fmla="val 5426"/>
            </a:avLst>
          </a:prstGeom>
          <a:gradFill rotWithShape="1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 w="9525" cmpd="sng">
            <a:solidFill>
              <a:schemeClr val="bg2"/>
            </a:solidFill>
            <a:round/>
          </a:ln>
        </p:spPr>
        <p:txBody>
          <a:bodyPr anchor="ctr"/>
          <a:lstStyle/>
          <a:p>
            <a:pPr algn="ctr">
              <a:lnSpc>
                <a:spcPct val="120000"/>
              </a:lnSpc>
            </a:pPr>
            <a:r>
              <a:rPr lang="zh-CN" altLang="en-US" sz="1400" i="1"/>
              <a:t>单击此处添加段落文字内容</a:t>
            </a:r>
            <a:endParaRPr lang="zh-CN" altLang="en-US" sz="1400" i="1"/>
          </a:p>
        </p:txBody>
      </p:sp>
      <p:sp>
        <p:nvSpPr>
          <p:cNvPr id="42" name="AutoShape 4"/>
          <p:cNvSpPr>
            <a:spLocks noChangeArrowheads="1"/>
          </p:cNvSpPr>
          <p:nvPr userDrawn="1"/>
        </p:nvSpPr>
        <p:spPr bwMode="auto">
          <a:xfrm>
            <a:off x="1490134" y="1731964"/>
            <a:ext cx="3839633" cy="936625"/>
          </a:xfrm>
          <a:prstGeom prst="roundRect">
            <a:avLst>
              <a:gd name="adj" fmla="val 5426"/>
            </a:avLst>
          </a:pr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18900000" scaled="1"/>
          </a:gradFill>
          <a:ln w="9525" cmpd="sng">
            <a:solidFill>
              <a:schemeClr val="bg2"/>
            </a:solidFill>
            <a:round/>
          </a:ln>
        </p:spPr>
        <p:txBody>
          <a:bodyPr anchor="ctr"/>
          <a:lstStyle/>
          <a:p>
            <a:pPr algn="ctr">
              <a:lnSpc>
                <a:spcPct val="120000"/>
              </a:lnSpc>
            </a:pPr>
            <a:r>
              <a:rPr lang="zh-CN" altLang="en-US" sz="1400" i="1"/>
              <a:t>单击此处添加段落文字内容</a:t>
            </a:r>
            <a:endParaRPr lang="zh-CN" altLang="en-US" sz="1400" i="1"/>
          </a:p>
        </p:txBody>
      </p:sp>
      <p:sp>
        <p:nvSpPr>
          <p:cNvPr id="43" name="Line 5"/>
          <p:cNvSpPr>
            <a:spLocks noChangeShapeType="1"/>
          </p:cNvSpPr>
          <p:nvPr userDrawn="1"/>
        </p:nvSpPr>
        <p:spPr bwMode="auto">
          <a:xfrm>
            <a:off x="6866468" y="2671763"/>
            <a:ext cx="3839633" cy="0"/>
          </a:xfrm>
          <a:prstGeom prst="line">
            <a:avLst/>
          </a:prstGeom>
          <a:noFill/>
          <a:ln w="19050" cmpd="sng">
            <a:solidFill>
              <a:schemeClr val="bg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Line 6"/>
          <p:cNvSpPr>
            <a:spLocks noChangeShapeType="1"/>
          </p:cNvSpPr>
          <p:nvPr userDrawn="1"/>
        </p:nvSpPr>
        <p:spPr bwMode="auto">
          <a:xfrm>
            <a:off x="1490134" y="2671763"/>
            <a:ext cx="3839633" cy="0"/>
          </a:xfrm>
          <a:prstGeom prst="line">
            <a:avLst/>
          </a:prstGeom>
          <a:noFill/>
          <a:ln w="19050" cmpd="sng">
            <a:solidFill>
              <a:schemeClr val="bg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5" name="Group 7"/>
          <p:cNvGrpSpPr/>
          <p:nvPr userDrawn="1"/>
        </p:nvGrpSpPr>
        <p:grpSpPr bwMode="auto">
          <a:xfrm>
            <a:off x="4946651" y="1406526"/>
            <a:ext cx="2209800" cy="1622425"/>
            <a:chOff x="0" y="0"/>
            <a:chExt cx="987" cy="966"/>
          </a:xfrm>
        </p:grpSpPr>
        <p:grpSp>
          <p:nvGrpSpPr>
            <p:cNvPr id="46" name="Group 8"/>
            <p:cNvGrpSpPr/>
            <p:nvPr/>
          </p:nvGrpSpPr>
          <p:grpSpPr bwMode="auto">
            <a:xfrm>
              <a:off x="0" y="0"/>
              <a:ext cx="987" cy="966"/>
              <a:chOff x="0" y="0"/>
              <a:chExt cx="1042" cy="1019"/>
            </a:xfrm>
          </p:grpSpPr>
          <p:pic>
            <p:nvPicPr>
              <p:cNvPr id="48" name="Picture 9" descr="circuler_1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0" y="0"/>
                <a:ext cx="1042" cy="10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9" name="Oval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035" cy="1019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47" name="Picture 11" descr="Picture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9" y="9"/>
              <a:ext cx="779" cy="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0" name="Line 12"/>
          <p:cNvSpPr>
            <a:spLocks noChangeShapeType="1"/>
          </p:cNvSpPr>
          <p:nvPr userDrawn="1"/>
        </p:nvSpPr>
        <p:spPr bwMode="auto">
          <a:xfrm>
            <a:off x="1490134" y="5516563"/>
            <a:ext cx="9218084" cy="0"/>
          </a:xfrm>
          <a:prstGeom prst="line">
            <a:avLst/>
          </a:prstGeom>
          <a:noFill/>
          <a:ln w="19050" cmpd="sng">
            <a:solidFill>
              <a:schemeClr val="bg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WordArt 13"/>
          <p:cNvSpPr>
            <a:spLocks noChangeArrowheads="1" noChangeShapeType="1"/>
          </p:cNvSpPr>
          <p:nvPr userDrawn="1"/>
        </p:nvSpPr>
        <p:spPr bwMode="auto">
          <a:xfrm>
            <a:off x="5348818" y="1914525"/>
            <a:ext cx="1439333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400">
                <a:ln w="9525" cmpd="sng">
                  <a:solidFill>
                    <a:schemeClr val="bg1"/>
                  </a:solidFill>
                  <a:round/>
                </a:ln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双击添加</a:t>
            </a:r>
            <a:endParaRPr lang="zh-CN" altLang="en-US" sz="2400">
              <a:ln w="9525" cmpd="sng">
                <a:solidFill>
                  <a:schemeClr val="bg1"/>
                </a:solidFill>
                <a:round/>
              </a:ln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400">
                <a:ln w="9525" cmpd="sng">
                  <a:solidFill>
                    <a:schemeClr val="bg1"/>
                  </a:solidFill>
                  <a:round/>
                </a:ln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标题文字</a:t>
            </a:r>
            <a:endParaRPr lang="zh-CN" altLang="en-US" sz="2400">
              <a:ln w="9525" cmpd="sng">
                <a:solidFill>
                  <a:schemeClr val="bg1"/>
                </a:solidFill>
                <a:round/>
              </a:ln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" name="AutoShape 14"/>
          <p:cNvSpPr>
            <a:spLocks noChangeArrowheads="1"/>
          </p:cNvSpPr>
          <p:nvPr userDrawn="1"/>
        </p:nvSpPr>
        <p:spPr bwMode="auto">
          <a:xfrm>
            <a:off x="5334001" y="2813050"/>
            <a:ext cx="1528233" cy="863600"/>
          </a:xfrm>
          <a:prstGeom prst="downArrow">
            <a:avLst>
              <a:gd name="adj1" fmla="val 52074"/>
              <a:gd name="adj2" fmla="val 57903"/>
            </a:avLst>
          </a:prstGeom>
          <a:gradFill rotWithShape="1">
            <a:gsLst>
              <a:gs pos="0">
                <a:schemeClr val="accent2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Rectangle 15"/>
          <p:cNvSpPr>
            <a:spLocks noChangeArrowheads="1"/>
          </p:cNvSpPr>
          <p:nvPr userDrawn="1"/>
        </p:nvSpPr>
        <p:spPr bwMode="auto">
          <a:xfrm>
            <a:off x="1488017" y="3867150"/>
            <a:ext cx="9220200" cy="5476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1400" i="1">
                <a:solidFill>
                  <a:srgbClr val="333333"/>
                </a:solidFill>
                <a:latin typeface="华文细黑" panose="02010600040101010101" pitchFamily="2" charset="-122"/>
              </a:rPr>
              <a:t>单击此处添加段落文字内容     单击此处添加段落文字内容</a:t>
            </a:r>
            <a:endParaRPr lang="zh-CN" altLang="en-US" sz="1400" i="1">
              <a:solidFill>
                <a:srgbClr val="333333"/>
              </a:solidFill>
              <a:latin typeface="华文细黑" panose="02010600040101010101" pitchFamily="2" charset="-122"/>
            </a:endParaRPr>
          </a:p>
        </p:txBody>
      </p:sp>
      <p:sp>
        <p:nvSpPr>
          <p:cNvPr id="54" name="Rectangle 16"/>
          <p:cNvSpPr>
            <a:spLocks noChangeArrowheads="1"/>
          </p:cNvSpPr>
          <p:nvPr userDrawn="1"/>
        </p:nvSpPr>
        <p:spPr bwMode="auto">
          <a:xfrm>
            <a:off x="1488017" y="4514850"/>
            <a:ext cx="9220200" cy="5476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1400" i="1">
                <a:solidFill>
                  <a:srgbClr val="333333"/>
                </a:solidFill>
                <a:latin typeface="华文细黑" panose="02010600040101010101" pitchFamily="2" charset="-122"/>
              </a:rPr>
              <a:t>单击此处添加段落文字内容     单击此处添加段落文字内容</a:t>
            </a:r>
            <a:endParaRPr lang="zh-CN" altLang="en-US" sz="1400" i="1">
              <a:solidFill>
                <a:srgbClr val="333333"/>
              </a:solidFill>
              <a:latin typeface="华文细黑" panose="02010600040101010101" pitchFamily="2" charset="-122"/>
            </a:endParaRPr>
          </a:p>
        </p:txBody>
      </p:sp>
      <p:pic>
        <p:nvPicPr>
          <p:cNvPr id="55" name="Picture 18" descr="10"/>
          <p:cNvPicPr>
            <a:picLocks noChangeAspect="1" noChangeArrowheads="1"/>
          </p:cNvPicPr>
          <p:nvPr userDrawn="1"/>
        </p:nvPicPr>
        <p:blipFill>
          <a:blip r:embed="rId4" cstate="print"/>
          <a:srcRect b="14"/>
          <a:stretch>
            <a:fillRect/>
          </a:stretch>
        </p:blipFill>
        <p:spPr bwMode="auto">
          <a:xfrm>
            <a:off x="624417" y="2698751"/>
            <a:ext cx="2046816" cy="505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AutoShape 19"/>
          <p:cNvSpPr>
            <a:spLocks noChangeArrowheads="1"/>
          </p:cNvSpPr>
          <p:nvPr userDrawn="1"/>
        </p:nvSpPr>
        <p:spPr bwMode="auto">
          <a:xfrm rot="16200000">
            <a:off x="2941108" y="2381780"/>
            <a:ext cx="908050" cy="1456267"/>
          </a:xfrm>
          <a:prstGeom prst="leftArrow">
            <a:avLst>
              <a:gd name="adj1" fmla="val 50000"/>
              <a:gd name="adj2" fmla="val 48301"/>
            </a:avLst>
          </a:prstGeom>
          <a:solidFill>
            <a:srgbClr val="C0C0C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AutoShape 20"/>
          <p:cNvSpPr>
            <a:spLocks noChangeArrowheads="1"/>
          </p:cNvSpPr>
          <p:nvPr userDrawn="1"/>
        </p:nvSpPr>
        <p:spPr bwMode="auto">
          <a:xfrm rot="16200000">
            <a:off x="2966510" y="2457450"/>
            <a:ext cx="857250" cy="1308100"/>
          </a:xfrm>
          <a:prstGeom prst="leftArrow">
            <a:avLst>
              <a:gd name="adj1" fmla="val 50000"/>
              <a:gd name="adj2" fmla="val 48301"/>
            </a:avLst>
          </a:prstGeom>
          <a:gradFill rotWithShape="1">
            <a:gsLst>
              <a:gs pos="0">
                <a:schemeClr val="bg1"/>
              </a:gs>
              <a:gs pos="100000">
                <a:schemeClr val="bg2">
                  <a:alpha val="0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utoShape 21"/>
          <p:cNvSpPr>
            <a:spLocks noChangeArrowheads="1"/>
          </p:cNvSpPr>
          <p:nvPr userDrawn="1"/>
        </p:nvSpPr>
        <p:spPr bwMode="auto">
          <a:xfrm rot="16200000">
            <a:off x="8351308" y="2381780"/>
            <a:ext cx="908050" cy="1456267"/>
          </a:xfrm>
          <a:prstGeom prst="leftArrow">
            <a:avLst>
              <a:gd name="adj1" fmla="val 50000"/>
              <a:gd name="adj2" fmla="val 48301"/>
            </a:avLst>
          </a:prstGeom>
          <a:solidFill>
            <a:srgbClr val="C0C0C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AutoShape 22"/>
          <p:cNvSpPr>
            <a:spLocks noChangeArrowheads="1"/>
          </p:cNvSpPr>
          <p:nvPr userDrawn="1"/>
        </p:nvSpPr>
        <p:spPr bwMode="auto">
          <a:xfrm rot="16200000">
            <a:off x="8373535" y="2454275"/>
            <a:ext cx="863600" cy="1308100"/>
          </a:xfrm>
          <a:prstGeom prst="leftArrow">
            <a:avLst>
              <a:gd name="adj1" fmla="val 50000"/>
              <a:gd name="adj2" fmla="val 48301"/>
            </a:avLst>
          </a:prstGeom>
          <a:gradFill rotWithShape="1">
            <a:gsLst>
              <a:gs pos="0">
                <a:schemeClr val="bg1"/>
              </a:gs>
              <a:gs pos="100000">
                <a:schemeClr val="bg2">
                  <a:alpha val="0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AutoShape 23"/>
          <p:cNvSpPr>
            <a:spLocks noChangeArrowheads="1"/>
          </p:cNvSpPr>
          <p:nvPr userDrawn="1"/>
        </p:nvSpPr>
        <p:spPr bwMode="auto">
          <a:xfrm rot="16200000">
            <a:off x="5616576" y="2508250"/>
            <a:ext cx="958850" cy="1308100"/>
          </a:xfrm>
          <a:prstGeom prst="leftArrow">
            <a:avLst>
              <a:gd name="adj1" fmla="val 50000"/>
              <a:gd name="adj2" fmla="val 48301"/>
            </a:avLst>
          </a:prstGeom>
          <a:gradFill rotWithShape="1">
            <a:gsLst>
              <a:gs pos="0">
                <a:schemeClr val="bg1">
                  <a:alpha val="45000"/>
                </a:schemeClr>
              </a:gs>
              <a:gs pos="100000">
                <a:schemeClr val="bg2">
                  <a:alpha val="0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" name="AutoShape 3"/>
          <p:cNvSpPr>
            <a:spLocks noChangeArrowheads="1"/>
          </p:cNvSpPr>
          <p:nvPr userDrawn="1"/>
        </p:nvSpPr>
        <p:spPr bwMode="auto">
          <a:xfrm>
            <a:off x="4734985" y="1906588"/>
            <a:ext cx="2355849" cy="342900"/>
          </a:xfrm>
          <a:prstGeom prst="roundRect">
            <a:avLst>
              <a:gd name="adj" fmla="val 13125"/>
            </a:avLst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4734984" y="1906588"/>
            <a:ext cx="2362200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i="1">
                <a:solidFill>
                  <a:schemeClr val="bg1"/>
                </a:solidFill>
              </a:rPr>
              <a:t>单击添加</a:t>
            </a:r>
            <a:endParaRPr lang="en-US" sz="1400" i="1">
              <a:solidFill>
                <a:schemeClr val="bg1"/>
              </a:solidFill>
            </a:endParaRPr>
          </a:p>
        </p:txBody>
      </p:sp>
      <p:sp>
        <p:nvSpPr>
          <p:cNvPr id="26" name="AutoShape 5"/>
          <p:cNvSpPr>
            <a:spLocks noChangeArrowheads="1"/>
          </p:cNvSpPr>
          <p:nvPr userDrawn="1"/>
        </p:nvSpPr>
        <p:spPr bwMode="auto">
          <a:xfrm>
            <a:off x="4614334" y="2336801"/>
            <a:ext cx="2603500" cy="828675"/>
          </a:xfrm>
          <a:prstGeom prst="roundRect">
            <a:avLst>
              <a:gd name="adj" fmla="val 5657"/>
            </a:avLst>
          </a:pr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18900000" scaled="1"/>
          </a:gradFill>
          <a:ln w="9525" cmpd="sng">
            <a:solidFill>
              <a:schemeClr val="bg2"/>
            </a:solidFill>
            <a:round/>
          </a:ln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1200" i="1"/>
              <a:t>单击添加内容文字</a:t>
            </a:r>
            <a:endParaRPr lang="zh-CN" altLang="en-US" sz="1200" i="1"/>
          </a:p>
        </p:txBody>
      </p:sp>
      <p:pic>
        <p:nvPicPr>
          <p:cNvPr id="27" name="Picture 6" descr="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7818" y="1671639"/>
            <a:ext cx="814916" cy="269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7" descr="5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68134" y="3868739"/>
            <a:ext cx="728133" cy="2681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8" descr="6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852152" y="3868738"/>
            <a:ext cx="715433" cy="272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AutoShape 9"/>
          <p:cNvSpPr>
            <a:spLocks noChangeArrowheads="1"/>
          </p:cNvSpPr>
          <p:nvPr userDrawn="1"/>
        </p:nvSpPr>
        <p:spPr bwMode="auto">
          <a:xfrm>
            <a:off x="745067" y="3676650"/>
            <a:ext cx="2357967" cy="342900"/>
          </a:xfrm>
          <a:prstGeom prst="roundRect">
            <a:avLst>
              <a:gd name="adj" fmla="val 13125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1"/>
          </a:gradFill>
          <a:ln w="9525">
            <a:noFill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Text Box 10"/>
          <p:cNvSpPr txBox="1">
            <a:spLocks noChangeArrowheads="1"/>
          </p:cNvSpPr>
          <p:nvPr userDrawn="1"/>
        </p:nvSpPr>
        <p:spPr bwMode="auto">
          <a:xfrm>
            <a:off x="745067" y="3676650"/>
            <a:ext cx="2364317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i="1">
                <a:solidFill>
                  <a:schemeClr val="bg1"/>
                </a:solidFill>
              </a:rPr>
              <a:t>单击添加</a:t>
            </a:r>
            <a:endParaRPr lang="en-US" sz="1400" i="1">
              <a:solidFill>
                <a:schemeClr val="bg1"/>
              </a:solidFill>
            </a:endParaRPr>
          </a:p>
        </p:txBody>
      </p:sp>
      <p:sp>
        <p:nvSpPr>
          <p:cNvPr id="32" name="AutoShape 11"/>
          <p:cNvSpPr>
            <a:spLocks noChangeArrowheads="1"/>
          </p:cNvSpPr>
          <p:nvPr userDrawn="1"/>
        </p:nvSpPr>
        <p:spPr bwMode="auto">
          <a:xfrm>
            <a:off x="624417" y="4106864"/>
            <a:ext cx="2605616" cy="828675"/>
          </a:xfrm>
          <a:prstGeom prst="roundRect">
            <a:avLst>
              <a:gd name="adj" fmla="val 5657"/>
            </a:avLst>
          </a:pr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18900000" scaled="1"/>
          </a:gradFill>
          <a:ln w="9525" cmpd="sng">
            <a:solidFill>
              <a:schemeClr val="bg2"/>
            </a:solidFill>
            <a:round/>
          </a:ln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1200" i="1"/>
              <a:t>单击添加内容文字</a:t>
            </a:r>
            <a:endParaRPr lang="zh-CN" altLang="en-US" sz="1200" i="1"/>
          </a:p>
        </p:txBody>
      </p:sp>
      <p:sp>
        <p:nvSpPr>
          <p:cNvPr id="33" name="AutoShape 12"/>
          <p:cNvSpPr>
            <a:spLocks noChangeArrowheads="1"/>
          </p:cNvSpPr>
          <p:nvPr userDrawn="1"/>
        </p:nvSpPr>
        <p:spPr bwMode="auto">
          <a:xfrm>
            <a:off x="8297333" y="3676650"/>
            <a:ext cx="2355851" cy="342900"/>
          </a:xfrm>
          <a:prstGeom prst="roundRect">
            <a:avLst>
              <a:gd name="adj" fmla="val 13125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1"/>
          </a:gradFill>
          <a:ln w="9525">
            <a:noFill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Text Box 13"/>
          <p:cNvSpPr txBox="1">
            <a:spLocks noChangeArrowheads="1"/>
          </p:cNvSpPr>
          <p:nvPr userDrawn="1"/>
        </p:nvSpPr>
        <p:spPr bwMode="auto">
          <a:xfrm>
            <a:off x="8297333" y="3676650"/>
            <a:ext cx="2362200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i="1">
                <a:solidFill>
                  <a:schemeClr val="bg1"/>
                </a:solidFill>
              </a:rPr>
              <a:t>单击添加</a:t>
            </a:r>
            <a:endParaRPr lang="en-US" sz="1400" i="1">
              <a:solidFill>
                <a:schemeClr val="bg1"/>
              </a:solidFill>
            </a:endParaRPr>
          </a:p>
        </p:txBody>
      </p:sp>
      <p:sp>
        <p:nvSpPr>
          <p:cNvPr id="35" name="AutoShape 14"/>
          <p:cNvSpPr>
            <a:spLocks noChangeArrowheads="1"/>
          </p:cNvSpPr>
          <p:nvPr userDrawn="1"/>
        </p:nvSpPr>
        <p:spPr bwMode="auto">
          <a:xfrm>
            <a:off x="8176684" y="4106864"/>
            <a:ext cx="2605616" cy="828675"/>
          </a:xfrm>
          <a:prstGeom prst="roundRect">
            <a:avLst>
              <a:gd name="adj" fmla="val 5657"/>
            </a:avLst>
          </a:pr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18900000" scaled="1"/>
          </a:gradFill>
          <a:ln w="9525" cmpd="sng">
            <a:solidFill>
              <a:schemeClr val="bg2"/>
            </a:solidFill>
            <a:round/>
          </a:ln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1200" i="1"/>
              <a:t>单击添加内容文字</a:t>
            </a:r>
            <a:endParaRPr lang="zh-CN" altLang="en-US" sz="1200" i="1"/>
          </a:p>
        </p:txBody>
      </p:sp>
      <p:sp>
        <p:nvSpPr>
          <p:cNvPr id="36" name="AutoShape 15"/>
          <p:cNvSpPr>
            <a:spLocks noChangeArrowheads="1"/>
          </p:cNvSpPr>
          <p:nvPr userDrawn="1"/>
        </p:nvSpPr>
        <p:spPr bwMode="auto">
          <a:xfrm>
            <a:off x="4734985" y="3676650"/>
            <a:ext cx="2355849" cy="342900"/>
          </a:xfrm>
          <a:prstGeom prst="roundRect">
            <a:avLst>
              <a:gd name="adj" fmla="val 13125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1"/>
          </a:gradFill>
          <a:ln w="9525">
            <a:noFill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Text Box 16"/>
          <p:cNvSpPr txBox="1">
            <a:spLocks noChangeArrowheads="1"/>
          </p:cNvSpPr>
          <p:nvPr userDrawn="1"/>
        </p:nvSpPr>
        <p:spPr bwMode="auto">
          <a:xfrm>
            <a:off x="4734984" y="3676650"/>
            <a:ext cx="2362200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i="1">
                <a:solidFill>
                  <a:schemeClr val="bg1"/>
                </a:solidFill>
              </a:rPr>
              <a:t>单击添加</a:t>
            </a:r>
            <a:endParaRPr lang="en-US" sz="1400" i="1">
              <a:solidFill>
                <a:schemeClr val="bg1"/>
              </a:solidFill>
            </a:endParaRPr>
          </a:p>
        </p:txBody>
      </p:sp>
      <p:sp>
        <p:nvSpPr>
          <p:cNvPr id="38" name="AutoShape 17"/>
          <p:cNvSpPr>
            <a:spLocks noChangeArrowheads="1"/>
          </p:cNvSpPr>
          <p:nvPr userDrawn="1"/>
        </p:nvSpPr>
        <p:spPr bwMode="auto">
          <a:xfrm>
            <a:off x="4614334" y="4106864"/>
            <a:ext cx="2603500" cy="828675"/>
          </a:xfrm>
          <a:prstGeom prst="roundRect">
            <a:avLst>
              <a:gd name="adj" fmla="val 5657"/>
            </a:avLst>
          </a:pr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18900000" scaled="1"/>
          </a:gradFill>
          <a:ln w="9525" cmpd="sng">
            <a:solidFill>
              <a:schemeClr val="bg2"/>
            </a:solidFill>
            <a:round/>
          </a:ln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1200" i="1"/>
              <a:t>单击添加内容文字</a:t>
            </a:r>
            <a:endParaRPr lang="zh-CN" altLang="en-US" sz="1200" i="1"/>
          </a:p>
        </p:txBody>
      </p:sp>
      <p:cxnSp>
        <p:nvCxnSpPr>
          <p:cNvPr id="39" name="AutoShape 18"/>
          <p:cNvCxnSpPr>
            <a:cxnSpLocks noChangeShapeType="1"/>
            <a:stCxn id="26" idx="2"/>
            <a:endCxn id="37" idx="0"/>
          </p:cNvCxnSpPr>
          <p:nvPr userDrawn="1"/>
        </p:nvCxnSpPr>
        <p:spPr bwMode="auto">
          <a:xfrm rot="5400000">
            <a:off x="5660497" y="3421063"/>
            <a:ext cx="511175" cy="0"/>
          </a:xfrm>
          <a:prstGeom prst="straightConnector1">
            <a:avLst/>
          </a:prstGeom>
          <a:noFill/>
          <a:ln w="9525" cmpd="sng">
            <a:solidFill>
              <a:schemeClr val="tx1"/>
            </a:solidFill>
            <a:round/>
          </a:ln>
        </p:spPr>
      </p:cxnSp>
      <p:cxnSp>
        <p:nvCxnSpPr>
          <p:cNvPr id="45" name="AutoShape 19"/>
          <p:cNvCxnSpPr>
            <a:cxnSpLocks noChangeShapeType="1"/>
            <a:stCxn id="26" idx="2"/>
            <a:endCxn id="31" idx="0"/>
          </p:cNvCxnSpPr>
          <p:nvPr userDrawn="1"/>
        </p:nvCxnSpPr>
        <p:spPr bwMode="auto">
          <a:xfrm rot="5400000">
            <a:off x="3666597" y="1427163"/>
            <a:ext cx="511175" cy="3987800"/>
          </a:xfrm>
          <a:prstGeom prst="bentConnector3">
            <a:avLst>
              <a:gd name="adj1" fmla="val 50000"/>
            </a:avLst>
          </a:prstGeom>
          <a:noFill/>
          <a:ln w="9525" cmpd="sng">
            <a:solidFill>
              <a:schemeClr val="tx1"/>
            </a:solidFill>
            <a:miter lim="800000"/>
            <a:tailEnd type="triangle" w="med" len="med"/>
          </a:ln>
        </p:spPr>
      </p:cxnSp>
      <p:cxnSp>
        <p:nvCxnSpPr>
          <p:cNvPr id="46" name="AutoShape 20"/>
          <p:cNvCxnSpPr>
            <a:cxnSpLocks noChangeShapeType="1"/>
            <a:stCxn id="26" idx="2"/>
            <a:endCxn id="34" idx="0"/>
          </p:cNvCxnSpPr>
          <p:nvPr userDrawn="1"/>
        </p:nvCxnSpPr>
        <p:spPr bwMode="auto">
          <a:xfrm rot="16200000" flipH="1">
            <a:off x="7441671" y="1639889"/>
            <a:ext cx="511175" cy="3562349"/>
          </a:xfrm>
          <a:prstGeom prst="bentConnector3">
            <a:avLst>
              <a:gd name="adj1" fmla="val 50000"/>
            </a:avLst>
          </a:prstGeom>
          <a:noFill/>
          <a:ln w="9525" cmpd="sng">
            <a:solidFill>
              <a:schemeClr val="tx1"/>
            </a:solidFill>
            <a:miter lim="800000"/>
          </a:ln>
        </p:spPr>
      </p:cxnSp>
      <p:pic>
        <p:nvPicPr>
          <p:cNvPr id="61" name="Picture 21" descr="4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85567" y="3924301"/>
            <a:ext cx="706967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461" y="1785926"/>
            <a:ext cx="8096307" cy="3000396"/>
          </a:xfr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586595" y="218440"/>
            <a:ext cx="2307590" cy="398780"/>
            <a:chOff x="1308" y="9881"/>
            <a:chExt cx="3634" cy="628"/>
          </a:xfrm>
        </p:grpSpPr>
        <p:sp>
          <p:nvSpPr>
            <p:cNvPr id="8" name="文本框 7"/>
            <p:cNvSpPr txBox="1"/>
            <p:nvPr/>
          </p:nvSpPr>
          <p:spPr>
            <a:xfrm>
              <a:off x="1581" y="9881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Python</a:t>
              </a:r>
              <a:r>
                <a:rPr lang="zh-CN" alt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程序设计</a:t>
              </a:r>
              <a:endPara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charset="-122"/>
                <a:ea typeface="南宋书局体" panose="02000000000000000000" charset="-122"/>
                <a:cs typeface="南宋书局体" panose="02000000000000000000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308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705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586595" y="218440"/>
            <a:ext cx="2307590" cy="398780"/>
            <a:chOff x="1308" y="9881"/>
            <a:chExt cx="3634" cy="628"/>
          </a:xfrm>
        </p:grpSpPr>
        <p:sp>
          <p:nvSpPr>
            <p:cNvPr id="8" name="文本框 7"/>
            <p:cNvSpPr txBox="1"/>
            <p:nvPr/>
          </p:nvSpPr>
          <p:spPr>
            <a:xfrm>
              <a:off x="1581" y="9881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Python</a:t>
              </a:r>
              <a:r>
                <a:rPr lang="zh-CN" alt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程序设计</a:t>
              </a:r>
              <a:endPara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charset="-122"/>
                <a:ea typeface="南宋书局体" panose="02000000000000000000" charset="-122"/>
                <a:cs typeface="南宋书局体" panose="02000000000000000000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308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椭圆 9"/>
            <p:cNvSpPr/>
            <p:nvPr/>
          </p:nvSpPr>
          <p:spPr>
            <a:xfrm>
              <a:off x="4705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image" Target="../media/image9.jpeg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586595" y="218440"/>
            <a:ext cx="2307590" cy="398780"/>
            <a:chOff x="1308" y="9881"/>
            <a:chExt cx="3634" cy="628"/>
          </a:xfrm>
        </p:grpSpPr>
        <p:sp>
          <p:nvSpPr>
            <p:cNvPr id="2" name="文本框 1"/>
            <p:cNvSpPr txBox="1"/>
            <p:nvPr/>
          </p:nvSpPr>
          <p:spPr>
            <a:xfrm>
              <a:off x="1581" y="9881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Python</a:t>
              </a:r>
              <a:r>
                <a:rPr lang="zh-CN" alt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程序设计</a:t>
              </a:r>
              <a:endPara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charset="-122"/>
                <a:ea typeface="南宋书局体" panose="02000000000000000000" charset="-122"/>
                <a:cs typeface="南宋书局体" panose="02000000000000000000" charset="-122"/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1308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705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622935" y="6344920"/>
            <a:ext cx="4256405" cy="398780"/>
            <a:chOff x="1308" y="9881"/>
            <a:chExt cx="6703" cy="628"/>
          </a:xfrm>
        </p:grpSpPr>
        <p:sp>
          <p:nvSpPr>
            <p:cNvPr id="14" name="文本框 13"/>
            <p:cNvSpPr txBox="1"/>
            <p:nvPr/>
          </p:nvSpPr>
          <p:spPr>
            <a:xfrm>
              <a:off x="1581" y="9881"/>
              <a:ext cx="643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03 流程控制</a:t>
              </a:r>
              <a:endParaRPr 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charset="-122"/>
                <a:ea typeface="南宋书局体" panose="02000000000000000000" charset="-122"/>
                <a:cs typeface="南宋书局体" panose="02000000000000000000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308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4114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188913"/>
            <a:ext cx="10972800" cy="654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57313"/>
            <a:ext cx="10972800" cy="4768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1400"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defRPr sz="1400"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defRPr sz="1400">
                <a:latin typeface="+mn-ea"/>
                <a:ea typeface="+mn-ea"/>
              </a:defRPr>
            </a:lvl1pPr>
          </a:lstStyle>
          <a:p>
            <a:fld id="{51918262-ED1E-41A1-8A2F-BC84EC236E1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188913"/>
            <a:ext cx="10972800" cy="654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57313"/>
            <a:ext cx="10972800" cy="4768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1"/>
            <a:ext cx="3073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400">
                <a:latin typeface="+mn-ea"/>
                <a:ea typeface="+mn-ea"/>
              </a:defRPr>
            </a:lvl1pPr>
          </a:lstStyle>
          <a:p>
            <a:fld id="{02A1A937-6D68-4CEE-950F-14C4A3E78B9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华文细黑" panose="02010600040101010101" pitchFamily="2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586595" y="218440"/>
            <a:ext cx="2307590" cy="398780"/>
            <a:chOff x="1308" y="9881"/>
            <a:chExt cx="3634" cy="628"/>
          </a:xfrm>
        </p:grpSpPr>
        <p:sp>
          <p:nvSpPr>
            <p:cNvPr id="2" name="文本框 1"/>
            <p:cNvSpPr txBox="1"/>
            <p:nvPr/>
          </p:nvSpPr>
          <p:spPr>
            <a:xfrm>
              <a:off x="1581" y="9881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Python</a:t>
              </a:r>
              <a:r>
                <a:rPr lang="zh-CN" alt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程序设计</a:t>
              </a:r>
              <a:endPara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charset="-122"/>
                <a:ea typeface="南宋书局体" panose="02000000000000000000" charset="-122"/>
                <a:cs typeface="南宋书局体" panose="02000000000000000000" charset="-122"/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1308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705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22935" y="6344920"/>
            <a:ext cx="4256405" cy="398780"/>
            <a:chOff x="1308" y="9881"/>
            <a:chExt cx="6703" cy="628"/>
          </a:xfrm>
        </p:grpSpPr>
        <p:sp>
          <p:nvSpPr>
            <p:cNvPr id="10" name="文本框 9"/>
            <p:cNvSpPr txBox="1"/>
            <p:nvPr/>
          </p:nvSpPr>
          <p:spPr>
            <a:xfrm>
              <a:off x="1581" y="9881"/>
              <a:ext cx="643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03 流程控制</a:t>
              </a:r>
              <a:endParaRPr 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charset="-122"/>
                <a:ea typeface="南宋书局体" panose="02000000000000000000" charset="-122"/>
                <a:cs typeface="南宋书局体" panose="02000000000000000000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308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4114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F5EC81-9FA9-430C-80A2-0CB2C7111DB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195A84-C18A-4BFB-9EFC-E5C3BEE35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586595" y="218440"/>
            <a:ext cx="2307590" cy="398780"/>
            <a:chOff x="1308" y="9881"/>
            <a:chExt cx="3634" cy="628"/>
          </a:xfrm>
        </p:grpSpPr>
        <p:sp>
          <p:nvSpPr>
            <p:cNvPr id="2" name="文本框 1"/>
            <p:cNvSpPr txBox="1"/>
            <p:nvPr/>
          </p:nvSpPr>
          <p:spPr>
            <a:xfrm>
              <a:off x="1581" y="9881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Python</a:t>
              </a:r>
              <a:r>
                <a:rPr lang="zh-CN" alt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程序设计</a:t>
              </a:r>
              <a:endPara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charset="-122"/>
                <a:ea typeface="南宋书局体" panose="02000000000000000000" charset="-122"/>
                <a:cs typeface="南宋书局体" panose="02000000000000000000" charset="-122"/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1308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椭圆 8"/>
            <p:cNvSpPr/>
            <p:nvPr/>
          </p:nvSpPr>
          <p:spPr>
            <a:xfrm>
              <a:off x="4705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622935" y="6344920"/>
            <a:ext cx="4256405" cy="398780"/>
            <a:chOff x="1308" y="9881"/>
            <a:chExt cx="6703" cy="628"/>
          </a:xfrm>
        </p:grpSpPr>
        <p:sp>
          <p:nvSpPr>
            <p:cNvPr id="14" name="文本框 13"/>
            <p:cNvSpPr txBox="1"/>
            <p:nvPr/>
          </p:nvSpPr>
          <p:spPr>
            <a:xfrm>
              <a:off x="1581" y="9881"/>
              <a:ext cx="643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南宋书局体" panose="02000000000000000000" charset="-122"/>
                  <a:ea typeface="南宋书局体" panose="02000000000000000000" charset="-122"/>
                  <a:cs typeface="南宋书局体" panose="02000000000000000000" charset="-122"/>
                </a:rPr>
                <a:t>03 流程控制</a:t>
              </a:r>
              <a:endParaRPr 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charset="-122"/>
                <a:ea typeface="南宋书局体" panose="02000000000000000000" charset="-122"/>
                <a:cs typeface="南宋书局体" panose="02000000000000000000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308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16" name="椭圆 15"/>
            <p:cNvSpPr/>
            <p:nvPr/>
          </p:nvSpPr>
          <p:spPr>
            <a:xfrm>
              <a:off x="4114" y="10076"/>
              <a:ext cx="237" cy="237"/>
            </a:xfrm>
            <a:prstGeom prst="ellipse">
              <a:avLst/>
            </a:prstGeom>
            <a:solidFill>
              <a:srgbClr val="CA081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2377440" cy="16459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8000" b="1">
                <a:solidFill>
                  <a:srgbClr val="30343A"/>
                </a:solidFill>
                <a:latin typeface="微软雅黑"/>
                <a:ea typeface="微软雅黑"/>
              </a:defRPr>
            </a:pPr>
            <a:r>
              <a:rPr sz="8000" b="1">
                <a:solidFill>
                  <a:srgbClr val="30343A"/>
                </a:solidFill>
                <a:latin typeface="微软雅黑"/>
                <a:ea typeface="微软雅黑"/>
              </a:rPr>
              <a:t>03</a:t>
            </a:r>
            <a:endParaRPr sz="800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77440" y="2468880"/>
            <a:ext cx="8412480" cy="1645920"/>
          </a:xfrm>
          <a:prstGeom prst="rect">
            <a:avLst/>
          </a:prstGeom>
          <a:solidFill>
            <a:srgbClr val="B7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20040" rtlCol="0" anchor="ctr">
            <a:norm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流程控制</a:t>
            </a:r>
            <a:endParaRPr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77440" y="4297680"/>
            <a:ext cx="8229600" cy="1645920"/>
          </a:xfrm>
          <a:prstGeom prst="rect">
            <a:avLst/>
          </a:prstGeom>
          <a:noFill/>
        </p:spPr>
        <p:txBody>
          <a:bodyPr wrap="non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2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《Python程序设计（思政版·第2版）》第3章 · 软件工程专业两课时标准教学课件</a:t>
            </a:r>
            <a:endParaRPr sz="1250" b="1">
              <a:solidFill>
                <a:srgbClr val="FFFFFF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 b="0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模块体系：3.1 程序的组织结构与流程图  |  3.2 分支结构  |  3.3 循环结构  |  3.4 综合实例</a:t>
            </a:r>
            <a:br>
              <a:rPr sz="1250"/>
            </a:b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实操支撑：国标流程图建模 · OpenCode架构师图纸先行与对抗测试 · 实验报告考核闭环</a:t>
            </a:r>
            <a:endParaRPr sz="1250" b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本章知识体系与两课时安排</a:t>
            </a:r>
            <a:endParaRPr sz="250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493776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 lnSpcReduction="10000"/>
          </a:bodyPr>
          <a:lstStyle/>
          <a:p>
            <a:r>
              <a:t>第一节课：顺序与分支</a:t>
            </a:r>
          </a:p>
          <a:p>
            <a:r>
              <a:t>• 3.1 顺序结构、流程图常用图元与例题 1 日期倒计时。</a:t>
            </a:r>
          </a:p>
          <a:p>
            <a:r>
              <a:t>• 3.2 单分支、双分支、多分支及嵌套；条件表达式与短路求值。</a:t>
            </a:r>
          </a:p>
          <a:p>
            <a:r>
              <a:t>• 课堂例题 1～7：成年判定、排序、较大值、电价、AQI、分段函数。</a:t>
            </a:r>
          </a:p>
          <a:p>
            <a:r>
              <a:t>• 课堂实操：作业 3.1 闰年判断与作业 3.3 四科成绩评优（含教材 Bug 诊断修复）。</a:t>
            </a:r>
          </a:p>
          <a:p>
            <a:r>
              <a:t>• 出口测验：缩进规范、世纪闰年判定、隐式类型转换。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05156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493776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t>第二节课：循环与综合应用</a:t>
            </a:r>
          </a:p>
          <a:p>
            <a:pPr>
              <a:lnSpc>
                <a:spcPct val="150000"/>
              </a:lnSpc>
            </a:pPr>
            <a:r>
              <a:t>• 3.3 while 循环：四要素、控制闭环、else 子句与死循环排查防御。</a:t>
            </a:r>
          </a:p>
          <a:p>
            <a:pPr>
              <a:lnSpc>
                <a:spcPct val="150000"/>
              </a:lnSpc>
            </a:pPr>
            <a:r>
              <a:t>• for...in 循环、range 区间、字符串遍历、索引与 enumerate。</a:t>
            </a:r>
          </a:p>
          <a:p>
            <a:pPr>
              <a:lnSpc>
                <a:spcPct val="150000"/>
              </a:lnSpc>
            </a:pPr>
            <a:r>
              <a:t>• 嵌套循环步进机制、break 与 continue 跳转控制流对比。</a:t>
            </a:r>
          </a:p>
          <a:p>
            <a:pPr>
              <a:lnSpc>
                <a:spcPct val="150000"/>
              </a:lnSpc>
            </a:pPr>
            <a:r>
              <a:t>• 课堂实操：作业 3.6 水仙花数数位拆分与作业 3.5 幸运猜数字游戏。</a:t>
            </a:r>
          </a:p>
          <a:p>
            <a:pPr>
              <a:lnSpc>
                <a:spcPct val="150000"/>
              </a:lnSpc>
            </a:pPr>
            <a:r>
              <a:t>• 3.4 综合实例：百钱买百鸡、口算程序；实验报告任务书说明。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软件工程思维：破除“无图纸施工”，坚持“图纸先行”</a:t>
            </a:r>
            <a:endParaRPr sz="19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0390" y="1014730"/>
            <a:ext cx="4777740" cy="4883150"/>
          </a:xfrm>
          <a:prstGeom prst="rect">
            <a:avLst/>
          </a:prstGeom>
          <a:noFill/>
        </p:spPr>
        <p:txBody>
          <a:bodyPr wrap="square" lIns="65000" tIns="35000" rIns="65000" bIns="35000">
            <a:normAutofit lnSpcReduction="10000"/>
          </a:bodyPr>
          <a:lstStyle/>
          <a:p>
            <a:pPr>
              <a:lnSpc>
                <a:spcPct val="15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50" b="1">
                <a:solidFill>
                  <a:srgbClr val="282828"/>
                </a:solidFill>
                <a:latin typeface="微软雅黑"/>
                <a:ea typeface="微软雅黑"/>
              </a:rPr>
              <a:t>从“盲目试错”走向“模型驱动”</a:t>
            </a:r>
            <a:endParaRPr sz="145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初学者常见误区：看到题目直接敲键盘写代码，逻辑不通便四处乱改打补丁，最终陷入混乱死胡同。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优秀软件工程师的专业习惯：代码只是砖瓦，逻辑才是蓝图；编码前必须建立算法流程图模型。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图纸先行原则：先通过流程图验证各分支回路与边界条件，人工单步推演无误后，再动手编写代码。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AI 时代的</a:t>
            </a:r>
            <a:r>
              <a:rPr lang="zh-CN" sz="1600" b="0">
                <a:solidFill>
                  <a:srgbClr val="282828"/>
                </a:solidFill>
                <a:latin typeface="微软雅黑"/>
                <a:ea typeface="微软雅黑"/>
              </a:rPr>
              <a:t>流程图绘制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：利用 OpenCode 等智能工具</a:t>
            </a:r>
            <a:r>
              <a:rPr lang="zh-CN" sz="1600" b="0">
                <a:solidFill>
                  <a:srgbClr val="282828"/>
                </a:solidFill>
                <a:latin typeface="微软雅黑"/>
                <a:ea typeface="微软雅黑"/>
              </a:rPr>
              <a:t>制图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，让 AI 担当架构师出具流程图，由人主导验证！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9824" y="1014984"/>
            <a:ext cx="601675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eprint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5943600" cy="48463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3.1 程序的组织结构：顺序、分支与循环三大基本结构</a:t>
            </a:r>
            <a:endParaRPr sz="250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572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420624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5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1">
                <a:solidFill>
                  <a:srgbClr val="30343A"/>
                </a:solidFill>
                <a:latin typeface="微软雅黑"/>
                <a:ea typeface="微软雅黑"/>
              </a:rPr>
              <a:t>顺序、分支和循环</a:t>
            </a:r>
            <a:endParaRPr sz="1800" b="1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b="0">
                <a:solidFill>
                  <a:srgbClr val="30343A"/>
                </a:solidFill>
                <a:latin typeface="微软雅黑"/>
                <a:ea typeface="微软雅黑"/>
              </a:rPr>
              <a:t>• 顺序：按语句先后次序执行。</a:t>
            </a:r>
            <a:endParaRPr b="0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b="0">
                <a:solidFill>
                  <a:srgbClr val="30343A"/>
                </a:solidFill>
                <a:latin typeface="微软雅黑"/>
                <a:ea typeface="微软雅黑"/>
              </a:rPr>
              <a:t>• 分支：根据条件选择执行路径。</a:t>
            </a:r>
            <a:endParaRPr b="0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b="0">
                <a:solidFill>
                  <a:srgbClr val="30343A"/>
                </a:solidFill>
                <a:latin typeface="微软雅黑"/>
                <a:ea typeface="微软雅黑"/>
              </a:rPr>
              <a:t>• 循环：在条件或可迭代对象的控制下重复执行。</a:t>
            </a:r>
            <a:endParaRPr b="0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b="0">
                <a:solidFill>
                  <a:srgbClr val="30343A"/>
                </a:solidFill>
                <a:latin typeface="微软雅黑"/>
                <a:ea typeface="微软雅黑"/>
              </a:rPr>
              <a:t>• 三种结构可以组合，也可以嵌套。分析程序时，先画出执行路径，再追踪变量状态。</a:t>
            </a:r>
            <a:endParaRPr b="0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9824" y="1014984"/>
            <a:ext cx="601675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eprint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5943600" cy="48463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3.1 流程图常用图元规范（GB/T 1526-1989）</a:t>
            </a:r>
            <a:endParaRPr sz="250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572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420624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5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1">
                <a:solidFill>
                  <a:srgbClr val="30343A"/>
                </a:solidFill>
                <a:latin typeface="微软雅黑"/>
                <a:ea typeface="微软雅黑"/>
              </a:rPr>
              <a:t>按 GB/T 1526-1989 识读流程图</a:t>
            </a:r>
            <a:endParaRPr sz="1600" b="1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30343A"/>
                </a:solidFill>
                <a:latin typeface="微软雅黑"/>
                <a:ea typeface="微软雅黑"/>
              </a:rPr>
              <a:t>• </a:t>
            </a:r>
            <a:r>
              <a:rPr sz="1600" b="0">
                <a:solidFill>
                  <a:srgbClr val="FF0000"/>
                </a:solidFill>
                <a:latin typeface="微软雅黑"/>
                <a:ea typeface="微软雅黑"/>
              </a:rPr>
              <a:t>起止符</a:t>
            </a:r>
            <a:r>
              <a:rPr sz="1600" b="0">
                <a:solidFill>
                  <a:srgbClr val="30343A"/>
                </a:solidFill>
                <a:latin typeface="微软雅黑"/>
                <a:ea typeface="微软雅黑"/>
              </a:rPr>
              <a:t>：表示流程开始或结束。</a:t>
            </a:r>
            <a:endParaRPr sz="1600" b="0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30343A"/>
                </a:solidFill>
                <a:latin typeface="微软雅黑"/>
                <a:ea typeface="微软雅黑"/>
              </a:rPr>
              <a:t>• </a:t>
            </a:r>
            <a:r>
              <a:rPr sz="1600" b="0">
                <a:solidFill>
                  <a:srgbClr val="FF0000"/>
                </a:solidFill>
                <a:latin typeface="微软雅黑"/>
                <a:ea typeface="微软雅黑"/>
              </a:rPr>
              <a:t>输入/输出符</a:t>
            </a:r>
            <a:r>
              <a:rPr sz="1600" b="0">
                <a:solidFill>
                  <a:srgbClr val="30343A"/>
                </a:solidFill>
                <a:latin typeface="微软雅黑"/>
                <a:ea typeface="微软雅黑"/>
              </a:rPr>
              <a:t>：表示读取数据或呈现结果。</a:t>
            </a:r>
            <a:endParaRPr sz="1600" b="0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30343A"/>
                </a:solidFill>
                <a:latin typeface="微软雅黑"/>
                <a:ea typeface="微软雅黑"/>
              </a:rPr>
              <a:t>• </a:t>
            </a:r>
            <a:r>
              <a:rPr sz="1600" b="0">
                <a:solidFill>
                  <a:srgbClr val="FF0000"/>
                </a:solidFill>
                <a:latin typeface="微软雅黑"/>
                <a:ea typeface="微软雅黑"/>
              </a:rPr>
              <a:t>处理符</a:t>
            </a:r>
            <a:r>
              <a:rPr sz="1600" b="0">
                <a:solidFill>
                  <a:srgbClr val="30343A"/>
                </a:solidFill>
                <a:latin typeface="微软雅黑"/>
                <a:ea typeface="微软雅黑"/>
              </a:rPr>
              <a:t>：表示赋值、计算或状态更新。</a:t>
            </a:r>
            <a:endParaRPr sz="1600" b="0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30343A"/>
                </a:solidFill>
                <a:latin typeface="微软雅黑"/>
                <a:ea typeface="微软雅黑"/>
              </a:rPr>
              <a:t>• </a:t>
            </a:r>
            <a:r>
              <a:rPr sz="1600" b="0">
                <a:solidFill>
                  <a:srgbClr val="FF0000"/>
                </a:solidFill>
                <a:latin typeface="微软雅黑"/>
                <a:ea typeface="微软雅黑"/>
              </a:rPr>
              <a:t>判断符</a:t>
            </a:r>
            <a:r>
              <a:rPr sz="1600" b="0">
                <a:solidFill>
                  <a:srgbClr val="30343A"/>
                </a:solidFill>
                <a:latin typeface="微软雅黑"/>
                <a:ea typeface="微软雅黑"/>
              </a:rPr>
              <a:t>：表示条件选择。二值判断标注“真/假”两个出口。</a:t>
            </a:r>
            <a:endParaRPr sz="1600" b="0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30343A"/>
                </a:solidFill>
                <a:latin typeface="微软雅黑"/>
                <a:ea typeface="微软雅黑"/>
              </a:rPr>
              <a:t>• </a:t>
            </a:r>
            <a:r>
              <a:rPr sz="1600" b="0">
                <a:solidFill>
                  <a:srgbClr val="FF0000"/>
                </a:solidFill>
                <a:latin typeface="微软雅黑"/>
                <a:ea typeface="微软雅黑"/>
              </a:rPr>
              <a:t>流线标明执行方向</a:t>
            </a:r>
            <a:r>
              <a:rPr lang="en-US" sz="1600" b="0">
                <a:solidFill>
                  <a:srgbClr val="30343A"/>
                </a:solidFill>
                <a:latin typeface="微软雅黑"/>
                <a:ea typeface="微软雅黑"/>
              </a:rPr>
              <a:t>：</a:t>
            </a:r>
            <a:r>
              <a:rPr sz="1600" b="0">
                <a:solidFill>
                  <a:srgbClr val="30343A"/>
                </a:solidFill>
                <a:latin typeface="微软雅黑"/>
                <a:ea typeface="微软雅黑"/>
              </a:rPr>
              <a:t>连接符用于衔接分开的流程段。汇合处要画清后续流向。</a:t>
            </a:r>
            <a:endParaRPr sz="1600" b="0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9824" y="1014984"/>
            <a:ext cx="601675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eprint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5943600" cy="48463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3.1 顺序结构原理与执行流特性</a:t>
            </a:r>
            <a:endParaRPr sz="25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572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2195"/>
            <a:ext cx="4572000" cy="4846320"/>
          </a:xfrm>
          <a:prstGeom prst="rect">
            <a:avLst/>
          </a:prstGeom>
          <a:noFill/>
        </p:spPr>
        <p:txBody>
          <a:bodyPr wrap="square" lIns="65000" tIns="35000" rIns="65000" bIns="35000">
            <a:normAutofit lnSpcReduction="10000"/>
          </a:bodyPr>
          <a:lstStyle/>
          <a:p>
            <a:pPr>
              <a:lnSpc>
                <a:spcPct val="15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1">
                <a:solidFill>
                  <a:srgbClr val="282828"/>
                </a:solidFill>
                <a:latin typeface="微软雅黑"/>
                <a:ea typeface="微软雅黑"/>
              </a:rPr>
              <a:t>时间推进与单向状态演变</a:t>
            </a:r>
            <a:endParaRPr sz="16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</a:t>
            </a:r>
            <a:r>
              <a:rPr sz="1600" b="0">
                <a:solidFill>
                  <a:srgbClr val="FF0000"/>
                </a:solidFill>
                <a:latin typeface="微软雅黑"/>
                <a:ea typeface="微软雅黑"/>
              </a:rPr>
              <a:t>无分支线性流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：</a:t>
            </a:r>
            <a:r>
              <a:rPr sz="1600" b="0">
                <a:solidFill>
                  <a:srgbClr val="00B050"/>
                </a:solidFill>
                <a:latin typeface="微软雅黑"/>
                <a:ea typeface="微软雅黑"/>
              </a:rPr>
              <a:t>语句的书写顺序就是实际执行顺序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，解释器严格从第一行向最后一行推进。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</a:t>
            </a:r>
            <a:r>
              <a:rPr sz="1600" b="0">
                <a:solidFill>
                  <a:srgbClr val="FF0000"/>
                </a:solidFill>
                <a:latin typeface="微软雅黑"/>
                <a:ea typeface="微软雅黑"/>
              </a:rPr>
              <a:t>状态依附性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：</a:t>
            </a:r>
            <a:r>
              <a:rPr sz="1600" b="0">
                <a:solidFill>
                  <a:srgbClr val="00B050"/>
                </a:solidFill>
                <a:latin typeface="微软雅黑"/>
                <a:ea typeface="微软雅黑"/>
              </a:rPr>
              <a:t>后一条语句执行时，完全依赖前一条语句修改后的内存变量状态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（只可读取已定义变量）。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</a:t>
            </a:r>
            <a:r>
              <a:rPr sz="1600" b="0">
                <a:solidFill>
                  <a:srgbClr val="FF0000"/>
                </a:solidFill>
                <a:latin typeface="微软雅黑"/>
                <a:ea typeface="微软雅黑"/>
              </a:rPr>
              <a:t>时间推演模型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：在系统开发中，</a:t>
            </a:r>
            <a:r>
              <a:rPr sz="1600" b="0">
                <a:solidFill>
                  <a:srgbClr val="00B050"/>
                </a:solidFill>
                <a:latin typeface="微软雅黑"/>
                <a:ea typeface="微软雅黑"/>
              </a:rPr>
              <a:t>顺序流常用于流水线初始化、配置加载、时间戳差值计算等确定性任务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</a:t>
            </a:r>
            <a:r>
              <a:rPr sz="1600" b="0">
                <a:solidFill>
                  <a:srgbClr val="FF0000"/>
                </a:solidFill>
                <a:latin typeface="微软雅黑"/>
                <a:ea typeface="微软雅黑"/>
              </a:rPr>
              <a:t>datetime 模块支持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：Python 标准库 datetime 提供了高精度日期与时间计算类，常用于项目排期与生命周期倒计时。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9824" y="1014984"/>
            <a:ext cx="601675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eprint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5943600" cy="48463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3.1 例题 1：日期计算与项目倒计时（2/2）：代码实现与运行推演</a:t>
            </a:r>
            <a:endParaRPr sz="17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566928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# 例题 1 日期计算与项目倒计时推演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import datetime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# 1. 获取当前系统日期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today = datetime.date.today()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print(f"当前系统日期: {today}")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# 2. 接收用户输入并构造目标日期 (明确指定格式)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date_str = input("请输入目标日期 (格式为 年-月-日，如 2026-12-31): ")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y, m, d = map(int, date_str.strip().split("-"))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target = datetime.date(y, m, d)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# 3. 计算日期间隔并提取天数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delta = target - today</a:t>
            </a:r>
            <a:endParaRPr sz="1600"/>
          </a:p>
          <a:p>
            <a:pPr>
              <a:defRPr sz="1200">
                <a:solidFill>
                  <a:srgbClr val="212529"/>
                </a:solidFill>
                <a:latin typeface="Consolas"/>
              </a:defRPr>
            </a:pPr>
            <a:r>
              <a:rPr sz="1600"/>
              <a:t>print(f"距离目标日期 [{target}] 还剩: {delta.days} 天")</a:t>
            </a:r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6537960" y="1508760"/>
            <a:ext cx="4937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600" b="1">
                <a:solidFill>
                  <a:srgbClr val="B70F17"/>
                </a:solidFill>
                <a:latin typeface="微软雅黑"/>
                <a:ea typeface="微软雅黑"/>
              </a:defRPr>
            </a:pPr>
            <a:r>
              <a:t>【控制台运行结果示例】</a:t>
            </a:r>
            <a:endParaRPr sz="1600" b="1"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743450" cy="1784985"/>
          </a:xfrm>
          <a:prstGeom prst="rect">
            <a:avLst/>
          </a:prstGeom>
          <a:noFill/>
        </p:spPr>
        <p:txBody>
          <a:bodyPr wrap="square" lIns="65000" tIns="35000" rIns="65000" bIns="35000">
            <a:noAutofit/>
          </a:bodyPr>
          <a:lstStyle/>
          <a:p>
            <a:pPr>
              <a:defRPr sz="1100">
                <a:solidFill>
                  <a:srgbClr val="212529"/>
                </a:solidFill>
                <a:latin typeface="微软雅黑"/>
              </a:defRPr>
            </a:pPr>
            <a:r>
              <a:rPr sz="1250"/>
              <a:t>• 【用例 1（未来日期）】输入: 2026-12-31 ➔ 输出: 倒计时剩余天数</a:t>
            </a:r>
            <a:endParaRPr sz="1250"/>
          </a:p>
          <a:p>
            <a:pPr>
              <a:defRPr sz="1100">
                <a:solidFill>
                  <a:srgbClr val="212529"/>
                </a:solidFill>
                <a:latin typeface="微软雅黑"/>
              </a:defRPr>
            </a:pPr>
            <a:r>
              <a:rPr sz="1250"/>
              <a:t>  说明: 目标日期在当前日期之后，时间差为正天数</a:t>
            </a:r>
            <a:endParaRPr sz="1250"/>
          </a:p>
          <a:p>
            <a:pPr>
              <a:defRPr sz="1100">
                <a:solidFill>
                  <a:srgbClr val="212529"/>
                </a:solidFill>
                <a:latin typeface="微软雅黑"/>
              </a:defRPr>
            </a:pPr>
            <a:r>
              <a:rPr sz="1250"/>
              <a:t>• 【用例 2（同日测试）】输入当前日期 ➔ 输出: 倒计时间隔为 0 天</a:t>
            </a:r>
            <a:endParaRPr sz="1250"/>
          </a:p>
          <a:p>
            <a:pPr>
              <a:defRPr sz="1100">
                <a:solidFill>
                  <a:srgbClr val="212529"/>
                </a:solidFill>
                <a:latin typeface="微软雅黑"/>
              </a:defRPr>
            </a:pPr>
            <a:r>
              <a:rPr sz="1250"/>
              <a:t>  说明: 当目标日期等于当前日期时，间隔天数为 0</a:t>
            </a:r>
            <a:endParaRPr sz="1250"/>
          </a:p>
          <a:p>
            <a:pPr>
              <a:defRPr sz="1100">
                <a:solidFill>
                  <a:srgbClr val="212529"/>
                </a:solidFill>
                <a:latin typeface="微软雅黑"/>
              </a:defRPr>
            </a:pPr>
            <a:r>
              <a:rPr sz="1250"/>
              <a:t>• 【用例 3（过去日期思考）】输入已过去日期 ➔ 输出负数天数</a:t>
            </a:r>
            <a:endParaRPr sz="1250"/>
          </a:p>
          <a:p>
            <a:pPr>
              <a:defRPr sz="1100">
                <a:solidFill>
                  <a:srgbClr val="212529"/>
                </a:solidFill>
                <a:latin typeface="微软雅黑"/>
              </a:defRPr>
            </a:pPr>
            <a:r>
              <a:rPr sz="1250"/>
              <a:t>  挑战: 留作实验任务书改写题，用 OpenCode 改写分支消除负数！</a:t>
            </a:r>
            <a:endParaRPr sz="1250"/>
          </a:p>
        </p:txBody>
      </p:sp>
      <p:sp>
        <p:nvSpPr>
          <p:cNvPr id="9" name="Rectangle 8"/>
          <p:cNvSpPr/>
          <p:nvPr/>
        </p:nvSpPr>
        <p:spPr>
          <a:xfrm>
            <a:off x="6537960" y="3822191"/>
            <a:ext cx="4937760" cy="2075688"/>
          </a:xfrm>
          <a:prstGeom prst="rect">
            <a:avLst/>
          </a:prstGeom>
          <a:solidFill>
            <a:srgbClr val="FFF5F5"/>
          </a:solidFill>
          <a:ln w="12700">
            <a:solidFill>
              <a:srgbClr val="E27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3822191"/>
            <a:ext cx="4937760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600" b="1">
                <a:solidFill>
                  <a:srgbClr val="B70F17"/>
                </a:solidFill>
                <a:latin typeface="微软雅黑"/>
                <a:ea typeface="微软雅黑"/>
              </a:defRPr>
            </a:pPr>
            <a:r>
              <a:rPr sz="1600" b="1">
                <a:latin typeface="微软雅黑"/>
                <a:ea typeface="微软雅黑"/>
              </a:rPr>
              <a:t>⚠️ 易错提醒 / 避坑指南</a:t>
            </a:r>
            <a:endParaRPr sz="1600" b="1"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4206240"/>
            <a:ext cx="4663440" cy="164592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5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• </a:t>
            </a:r>
            <a:r>
              <a:rPr sz="1150" b="1">
                <a:solidFill>
                  <a:srgbClr val="282828"/>
                </a:solidFill>
                <a:latin typeface="微软雅黑"/>
                <a:ea typeface="微软雅黑"/>
              </a:rPr>
              <a:t>类型陷阱</a:t>
            </a: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：date 对象相减返回的是 datetime.timedelta 对象，切勿直接当作整数进行格式化！</a:t>
            </a:r>
            <a:endParaRPr sz="115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• </a:t>
            </a:r>
            <a:r>
              <a:rPr sz="1150" b="1">
                <a:solidFill>
                  <a:srgbClr val="282828"/>
                </a:solidFill>
                <a:latin typeface="微软雅黑"/>
                <a:ea typeface="微软雅黑"/>
              </a:rPr>
              <a:t>属性提取</a:t>
            </a: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：必须使用 .days 属性提取天数（例如 delta.days），.seconds 表示不足一天的秒数，并非总秒数。</a:t>
            </a:r>
            <a:endParaRPr sz="115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• </a:t>
            </a:r>
            <a:r>
              <a:rPr sz="1150" b="1">
                <a:solidFill>
                  <a:srgbClr val="282828"/>
                </a:solidFill>
                <a:latin typeface="微软雅黑"/>
                <a:ea typeface="微软雅黑"/>
              </a:rPr>
              <a:t>输入合法性</a:t>
            </a: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：若输入月份大于 12 或日期超出当月范围，date() 会直接抛出 ValueError 异常。</a:t>
            </a:r>
            <a:endParaRPr sz="115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37160" bIns="54864" rtlCol="0" anchor="ctr"/>
          <a:lstStyle/>
          <a:p>
            <a:pPr algn="ctr"/>
            <a:r>
              <a:rPr sz="1600" b="1">
                <a:solidFill>
                  <a:srgbClr val="C70E1D"/>
                </a:solidFill>
                <a:latin typeface="微软雅黑"/>
              </a:rPr>
              <a:t>【题目要求】 </a:t>
            </a:r>
            <a:r>
              <a:rPr sz="1400" b="0">
                <a:solidFill>
                  <a:srgbClr val="212529"/>
                </a:solidFill>
                <a:latin typeface="微软雅黑"/>
              </a:rPr>
              <a:t>编写程序获取当前系统日期，并由用户输入目标日期，计算该日是当年的第几天以及距离年末还剩多少天。</a:t>
            </a:r>
            <a:endParaRPr sz="1400" b="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960120"/>
            <a:ext cx="73152" cy="457200"/>
          </a:xfrm>
          <a:prstGeom prst="rect">
            <a:avLst/>
          </a:prstGeom>
          <a:solidFill>
            <a:srgbClr val="C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3.1 例题 1：日期计算与项目倒计时（1/2）：需求剖析与顺序流程图</a:t>
            </a:r>
            <a:endParaRPr sz="17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1148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374904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5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1">
                <a:solidFill>
                  <a:srgbClr val="282828"/>
                </a:solidFill>
                <a:latin typeface="微软雅黑"/>
                <a:ea typeface="微软雅黑"/>
              </a:rPr>
              <a:t>业务需求与算法分析</a:t>
            </a:r>
            <a:endParaRPr sz="16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【题目需求】: 编写程序获取当前系统日期，由用户输入目标项目交付日期（年、月、日），计算并输出剩余倒计时天数。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【数学建模】: 目标日期 target 与当前日期 today 进行相减操作，得到 timedelta 时间间隔对象，读取其 .days 属性即为相差天数。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【控制结构】: 典型顺序结构。各操作自上而下严格依次执行，无须分支判断与循环回跳。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0610" y="880110"/>
            <a:ext cx="3927475" cy="552704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3.2.1 单分支结构语法规则与执行流</a:t>
            </a:r>
            <a:endParaRPr sz="25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572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7085" y="1188720"/>
            <a:ext cx="432943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Autofit/>
          </a:bodyPr>
          <a:lstStyle/>
          <a:p>
            <a:pPr>
              <a:lnSpc>
                <a:spcPct val="15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1">
                <a:solidFill>
                  <a:srgbClr val="282828"/>
                </a:solidFill>
                <a:latin typeface="微软雅黑"/>
                <a:ea typeface="微软雅黑"/>
              </a:rPr>
              <a:t>if 单分支语法核心</a:t>
            </a:r>
            <a:endParaRPr sz="14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语法格式：
</a:t>
            </a:r>
            <a:r>
              <a:rPr sz="1400" b="0">
                <a:solidFill>
                  <a:srgbClr val="C00000"/>
                </a:solidFill>
                <a:latin typeface="微软雅黑"/>
                <a:ea typeface="微软雅黑"/>
              </a:rPr>
              <a:t>  if &lt;条件表达式&gt;:
      &lt;语句块&gt;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冒号的作用：</a:t>
            </a:r>
            <a:r>
              <a:rPr sz="1400" b="0">
                <a:solidFill>
                  <a:srgbClr val="00B050"/>
                </a:solidFill>
                <a:latin typeface="微软雅黑"/>
                <a:ea typeface="微软雅黑"/>
              </a:rPr>
              <a:t>冒号 ':' 是 Python 语法的关键标记，指示判断条件的终结与缩进语句块的开始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4 空格缩进规则：PEP 8 官方标准严格规定代码块统一使用 4 个空格缩进，禁止使用 Tab 与空格混用</a:t>
            </a:r>
            <a:r>
              <a:rPr lang="en-US" sz="1400" b="0">
                <a:solidFill>
                  <a:srgbClr val="282828"/>
                </a:solidFill>
                <a:latin typeface="微软雅黑"/>
                <a:ea typeface="微软雅黑"/>
              </a:rPr>
              <a:t>；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执行逻辑：条件为真 (True) 时进入执行缩进语句块；条件为假 (False) 时直接跳过该代码块继续往下执行。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</a:t>
            </a:r>
            <a:r>
              <a:rPr sz="1400" b="0">
                <a:solidFill>
                  <a:srgbClr val="C00000"/>
                </a:solidFill>
                <a:latin typeface="微软雅黑"/>
                <a:ea typeface="微软雅黑"/>
              </a:rPr>
              <a:t>无 else </a:t>
            </a:r>
            <a:r>
              <a:rPr lang="zh-CN" sz="1400" b="0">
                <a:solidFill>
                  <a:srgbClr val="C00000"/>
                </a:solidFill>
                <a:latin typeface="微软雅黑"/>
                <a:ea typeface="微软雅黑"/>
              </a:rPr>
              <a:t>分支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：</a:t>
            </a:r>
            <a:r>
              <a:rPr lang="zh-CN" altLang="en-US" sz="1400" b="0">
                <a:solidFill>
                  <a:srgbClr val="282828"/>
                </a:solidFill>
                <a:latin typeface="微软雅黑"/>
                <a:ea typeface="微软雅黑"/>
              </a:rPr>
              <a:t>仅在满足特定条件时做额外处理，其余情况保持原逻辑继续向下执行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9824" y="1014984"/>
            <a:ext cx="601675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eprint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5943600" cy="48463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例题 2：出生年份与成年判定</a:t>
            </a:r>
            <a:endParaRPr sz="250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bIns="54864" rtlCol="0" anchor="ctr"/>
          <a:lstStyle/>
          <a:p>
            <a:pPr algn="ctr"/>
            <a:r>
              <a:rPr sz="1600" b="1">
                <a:solidFill>
                  <a:srgbClr val="C70E1D"/>
                </a:solidFill>
                <a:latin typeface="微软雅黑"/>
              </a:rPr>
              <a:t>【题目要求】 </a:t>
            </a:r>
            <a:r>
              <a:rPr sz="1600" b="0">
                <a:solidFill>
                  <a:srgbClr val="212529"/>
                </a:solidFill>
                <a:latin typeface="微软雅黑"/>
              </a:rPr>
              <a:t>从控制台输入出生年份，若计算当前年龄大于等于 18 周岁则输出“是成年人!”。</a:t>
            </a:r>
            <a:endParaRPr sz="1600" b="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73152" cy="457200"/>
          </a:xfrm>
          <a:prstGeom prst="rect">
            <a:avLst/>
          </a:prstGeom>
          <a:solidFill>
            <a:srgbClr val="C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669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394960" cy="309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t># 例题 2 判断是否为成年人</a:t>
            </a:r>
            <a:endParaRPr sz="125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import datetime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endParaRPr sz="1600"/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year = int(input("请输入出生年份: "))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endParaRPr sz="1600"/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# datetime.date.today().year 获取当前年份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if datetime.date.today().year - year &gt;= 18: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    print("是成年人!")</a:t>
            </a:r>
            <a:endParaRPr sz="1600">
              <a:solidFill>
                <a:srgbClr val="212529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37960" y="1508760"/>
            <a:ext cx="4937760" cy="2194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C70E1D"/>
                </a:solidFill>
                <a:latin typeface="微软雅黑"/>
              </a:defRPr>
            </a:pPr>
            <a:r>
              <a:t>【控制台运行结果示例】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161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212529"/>
                </a:solidFill>
                <a:latin typeface="微软雅黑"/>
              </a:rPr>
              <a:t>• 【用例 1（成年判定）】输入: 2005 ➔ 2026 - 2005 = 21 &gt;= 18
  输出: 是成年人! (条件为真，进入代码块)</a:t>
            </a:r>
            <a:endParaRPr sz="1100">
              <a:solidFill>
                <a:srgbClr val="212529"/>
              </a:solidFill>
              <a:latin typeface="微软雅黑"/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212529"/>
                </a:solidFill>
                <a:latin typeface="微软雅黑"/>
              </a:rPr>
              <a:t>• 【用例 2（未成年判定）】输入: 2012 ➔ 2026 - 2012 = 14 &lt; 18
  输出: 无输出 (条件为假，直接跳过代码块)</a:t>
            </a:r>
            <a:endParaRPr sz="1100">
              <a:solidFill>
                <a:srgbClr val="212529"/>
              </a:solidFill>
              <a:latin typeface="微软雅黑"/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212529"/>
                </a:solidFill>
                <a:latin typeface="微软雅黑"/>
              </a:rPr>
              <a:t>• 【用例 3（压线边界）】输入: 2008 ➔ 2026 - 2008 = 18 &gt;= 18
  输出: 是成年人! (&gt;= 边界成立)</a:t>
            </a:r>
            <a:endParaRPr sz="110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37960" y="3822191"/>
            <a:ext cx="4937760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3822191"/>
            <a:ext cx="493776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70E1D"/>
                </a:solidFill>
                <a:latin typeface="微软雅黑"/>
              </a:defRPr>
            </a:pPr>
            <a:r>
              <a:t>💡 单分支语法核心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206240"/>
            <a:ext cx="4800600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212529"/>
                </a:solidFill>
                <a:latin typeface="微软雅黑"/>
              </a:rPr>
              <a:t>• 条件真值：if 条件必须为求出 True 或 False 的表达式；</a:t>
            </a:r>
            <a:endParaRPr sz="1400">
              <a:solidFill>
                <a:srgbClr val="212529"/>
              </a:solidFill>
              <a:latin typeface="微软雅黑"/>
            </a:endParaRPr>
          </a:p>
          <a:p>
            <a:pPr>
              <a:lnSpc>
                <a:spcPct val="150000"/>
              </a:lnSpc>
            </a:pPr>
            <a:r>
              <a:rPr sz="1400">
                <a:solidFill>
                  <a:srgbClr val="212529"/>
                </a:solidFill>
                <a:latin typeface="微软雅黑"/>
              </a:rPr>
              <a:t>• 数据转换：</a:t>
            </a:r>
            <a:r>
              <a:rPr sz="1400">
                <a:solidFill>
                  <a:srgbClr val="C00000"/>
                </a:solidFill>
                <a:latin typeface="微软雅黑"/>
              </a:rPr>
              <a:t>input() 读入的是字符串，必须用 int() 转为整数才能进行数值计算</a:t>
            </a:r>
            <a:r>
              <a:rPr sz="1400">
                <a:solidFill>
                  <a:srgbClr val="212529"/>
                </a:solidFill>
                <a:latin typeface="微软雅黑"/>
              </a:rPr>
              <a:t>；</a:t>
            </a:r>
            <a:endParaRPr sz="1400">
              <a:solidFill>
                <a:srgbClr val="212529"/>
              </a:solidFill>
              <a:latin typeface="微软雅黑"/>
            </a:endParaRPr>
          </a:p>
          <a:p>
            <a:pPr>
              <a:lnSpc>
                <a:spcPct val="150000"/>
              </a:lnSpc>
            </a:pPr>
            <a:r>
              <a:rPr sz="1400">
                <a:solidFill>
                  <a:srgbClr val="212529"/>
                </a:solidFill>
                <a:latin typeface="微软雅黑"/>
              </a:rPr>
              <a:t>• 严格缩进：PEP 8 规定缩进 4 空格，条件为 True 时执行，为 False 时跳过。</a:t>
            </a:r>
            <a:endParaRPr sz="1400">
              <a:solidFill>
                <a:srgbClr val="212529"/>
              </a:solidFill>
              <a:latin typeface="微软雅黑"/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例题 3：两整数升序排列（1/2）：变量交换逻辑与流程图</a:t>
            </a:r>
            <a:endParaRPr sz="17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1148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374904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1">
                <a:solidFill>
                  <a:srgbClr val="282828"/>
                </a:solidFill>
                <a:latin typeface="微软雅黑"/>
                <a:ea typeface="微软雅黑"/>
              </a:rPr>
              <a:t>题目解析与交换逻辑</a:t>
            </a:r>
            <a:endParaRPr sz="16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【题目】: 输入任意两个整数 a 和 b，按从小到大的升序顺序输出。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【算法设计】: 如果 a &lt;= b，两者顺序正确，不需任何处理；仅当 a &gt; b 时，才触发数值交换动作。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【单分支决策】: 判断条件为 `a &gt; b`，真分支执行数值交换，假分支直接跳过直达汇聚节点。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2710" y="997585"/>
            <a:ext cx="3458210" cy="539877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例题 3：两整数升序排列（2/2）：代码实现与运行验证</a:t>
            </a:r>
            <a:endParaRPr sz="19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566928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750">
                <a:latin typeface="Consolas"/>
                <a:ea typeface="Consolas"/>
              </a:defRPr>
            </a:pPr>
            <a:r>
              <a:t># 例题 3 两整数升序排列</a:t>
            </a:r>
            <a:endParaRPr sz="160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750"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,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0070C0"/>
                </a:solidFill>
                <a:latin typeface="Consolas"/>
                <a:ea typeface="Consolas"/>
              </a:rPr>
              <a:t>map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600">
                <a:solidFill>
                  <a:srgbClr val="0070C0"/>
                </a:solidFill>
                <a:latin typeface="Consolas"/>
                <a:ea typeface="Consolas"/>
              </a:rPr>
              <a:t>int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,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0070C0"/>
                </a:solidFill>
                <a:latin typeface="Consolas"/>
                <a:ea typeface="Consolas"/>
              </a:rPr>
              <a:t>input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请输入两个整数 (空格分隔): 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.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split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750">
                <a:latin typeface="Consolas"/>
                <a:ea typeface="Consolas"/>
              </a:defRPr>
            </a:pPr>
            <a:r>
              <a:rPr sz="1600">
                <a:solidFill>
                  <a:srgbClr val="0070C0"/>
                </a:solidFill>
                <a:latin typeface="Consolas"/>
                <a:ea typeface="Consolas"/>
              </a:rPr>
              <a:t>print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f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排序前: a = 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{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}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, b = 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{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}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750">
                <a:latin typeface="Consolas"/>
                <a:ea typeface="Consolas"/>
              </a:defRPr>
            </a:pPr>
            <a:r>
              <a:rPr sz="1600">
                <a:latin typeface="Consolas"/>
                <a:ea typeface="Consolas"/>
              </a:rPr>
              <a:t> </a:t>
            </a:r>
            <a:endParaRPr sz="1600"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750">
                <a:latin typeface="Consolas"/>
                <a:ea typeface="Consolas"/>
              </a:defRPr>
            </a:pPr>
            <a:r>
              <a:rPr sz="1600" i="1">
                <a:solidFill>
                  <a:srgbClr val="7F7F7F"/>
                </a:solidFill>
                <a:latin typeface="Consolas"/>
                <a:ea typeface="Consolas"/>
              </a:rPr>
              <a:t># 单分支条件交换</a:t>
            </a:r>
            <a:endParaRPr sz="160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750">
                <a:latin typeface="Consolas"/>
                <a:ea typeface="Consolas"/>
              </a:defRPr>
            </a:pPr>
            <a:r>
              <a:rPr sz="1600" b="1">
                <a:solidFill>
                  <a:srgbClr val="B70F17"/>
                </a:solidFill>
                <a:latin typeface="Consolas"/>
                <a:ea typeface="Consolas"/>
              </a:rPr>
              <a:t>if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&gt;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: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750"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 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,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,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</a:t>
            </a:r>
            <a:r>
              <a:rPr sz="1600" i="1">
                <a:solidFill>
                  <a:srgbClr val="7F7F7F"/>
                </a:solidFill>
                <a:latin typeface="Consolas"/>
                <a:ea typeface="Consolas"/>
              </a:rPr>
              <a:t># Python 优雅多元解包赋值</a:t>
            </a:r>
            <a:endParaRPr sz="160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750">
                <a:latin typeface="Consolas"/>
                <a:ea typeface="Consolas"/>
              </a:defRPr>
            </a:pPr>
            <a:r>
              <a:rPr sz="1600">
                <a:latin typeface="Consolas"/>
                <a:ea typeface="Consolas"/>
              </a:rPr>
              <a:t> </a:t>
            </a:r>
            <a:endParaRPr sz="1600"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750">
                <a:latin typeface="Consolas"/>
                <a:ea typeface="Consolas"/>
              </a:defRPr>
            </a:pPr>
            <a:r>
              <a:rPr sz="1600">
                <a:solidFill>
                  <a:srgbClr val="0070C0"/>
                </a:solidFill>
                <a:latin typeface="Consolas"/>
                <a:ea typeface="Consolas"/>
              </a:rPr>
              <a:t>print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f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升序排序后: a = 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{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}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, b = 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{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}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37960" y="1508760"/>
            <a:ext cx="4937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600" b="1">
                <a:solidFill>
                  <a:srgbClr val="B70F17"/>
                </a:solidFill>
                <a:latin typeface="微软雅黑"/>
                <a:ea typeface="微软雅黑"/>
              </a:defRPr>
            </a:pPr>
            <a:r>
              <a:t>【控制台运行结果示例】</a:t>
            </a:r>
            <a:endParaRPr sz="1600" b="1"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663440" cy="173736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450">
                <a:latin typeface="微软雅黑"/>
                <a:ea typeface="微软雅黑"/>
              </a:defRPr>
            </a:pPr>
            <a:r>
              <a:rPr sz="1200">
                <a:solidFill>
                  <a:srgbClr val="212529"/>
                </a:solidFill>
                <a:latin typeface="微软雅黑"/>
              </a:rPr>
              <a:t>• 【用例 1（逆序输入）】输入: 9 2  ➔  输出: 升序排序后: a = 2, b = 9
  说明: a &gt; b (9 &gt; 2) 成立，触发 a, b = b, a 解包交换</a:t>
            </a:r>
            <a:endParaRPr sz="1200">
              <a:solidFill>
                <a:srgbClr val="212529"/>
              </a:solidFill>
              <a:latin typeface="微软雅黑"/>
            </a:endParaRPr>
          </a:p>
          <a:p>
            <a:r>
              <a:rPr sz="1200">
                <a:solidFill>
                  <a:srgbClr val="212529"/>
                </a:solidFill>
                <a:latin typeface="微软雅黑"/>
              </a:rPr>
              <a:t>• 【用例 2（正序输入）】输入: 2 9  ➔  输出: 升序排序后: a = 2, b = 9
  说明: a &gt; b 为假，直接跳过交换语句</a:t>
            </a:r>
            <a:endParaRPr sz="1200">
              <a:solidFill>
                <a:srgbClr val="212529"/>
              </a:solidFill>
              <a:latin typeface="微软雅黑"/>
            </a:endParaRPr>
          </a:p>
          <a:p>
            <a:r>
              <a:rPr sz="1200">
                <a:solidFill>
                  <a:srgbClr val="212529"/>
                </a:solidFill>
                <a:latin typeface="微软雅黑"/>
              </a:rPr>
              <a:t>• 【用例 3（相等输入）】输入: -3 -3  ➔  输出: 升序排序后: a = -3, b = -3
  说明: 边界值相等，不触发交换，数值保持不变</a:t>
            </a:r>
            <a:endParaRPr sz="120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37960" y="3822191"/>
            <a:ext cx="4937760" cy="2075688"/>
          </a:xfrm>
          <a:prstGeom prst="rect">
            <a:avLst/>
          </a:prstGeom>
          <a:solidFill>
            <a:srgbClr val="FFF5F5"/>
          </a:solidFill>
          <a:ln w="12700">
            <a:solidFill>
              <a:srgbClr val="E27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3822191"/>
            <a:ext cx="4937760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600" b="1">
                <a:solidFill>
                  <a:srgbClr val="B70F17"/>
                </a:solidFill>
                <a:latin typeface="微软雅黑"/>
                <a:ea typeface="微软雅黑"/>
              </a:defRPr>
            </a:pPr>
            <a:r>
              <a:t>💡 代码要点与避坑指南</a:t>
            </a:r>
            <a:endParaRPr sz="1600" b="1"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4206240"/>
            <a:ext cx="4663440" cy="1645920"/>
          </a:xfrm>
          <a:prstGeom prst="rect">
            <a:avLst/>
          </a:prstGeom>
          <a:noFill/>
        </p:spPr>
        <p:txBody>
          <a:bodyPr wrap="square" lIns="65000" tIns="35000" rIns="65000" bIns="35000">
            <a:normAutofit lnSpcReduction="10000"/>
          </a:bodyPr>
          <a:lstStyle/>
          <a:p>
            <a:pPr>
              <a:lnSpc>
                <a:spcPct val="15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• 经典赋值覆盖错误：传统语言常用 `temp = a; a = b; b = temp`；切忌误写为 `a = b; b = a` 导致</a:t>
            </a:r>
            <a:r>
              <a:rPr lang="zh-CN" sz="1150">
                <a:solidFill>
                  <a:srgbClr val="282828"/>
                </a:solidFill>
                <a:latin typeface="微软雅黑"/>
                <a:ea typeface="微软雅黑"/>
              </a:rPr>
              <a:t>错误</a:t>
            </a: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！</a:t>
            </a:r>
            <a:endParaRPr sz="115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• Python 多元赋值原理：`a, b = b, a` 底层先构造右侧元组 `(b, a)`，再解包分配给左侧，属于原子操作，安全优雅。</a:t>
            </a:r>
            <a:endParaRPr sz="115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• 数据类型转换：通过 `map(int, ...)` 将终端输入的字符串转为整数，否则比较的是字符 ASCII 码字典序。</a:t>
            </a:r>
            <a:endParaRPr sz="115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37160" bIns="54864" rtlCol="0" anchor="ctr"/>
          <a:lstStyle/>
          <a:p>
            <a:pPr algn="ctr"/>
            <a:r>
              <a:rPr sz="1800" b="1">
                <a:solidFill>
                  <a:srgbClr val="C70E1D"/>
                </a:solidFill>
                <a:latin typeface="微软雅黑"/>
              </a:rPr>
              <a:t>【题目要求】 </a:t>
            </a:r>
            <a:r>
              <a:rPr sz="1600" b="0">
                <a:solidFill>
                  <a:srgbClr val="212529"/>
                </a:solidFill>
                <a:latin typeface="微软雅黑"/>
              </a:rPr>
              <a:t>从键盘输入任意两个整数 a 和 b，若 a &gt; b 则交换两数的值，最终按从小到大的升序顺序输出。</a:t>
            </a:r>
            <a:endParaRPr sz="1600" b="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960120"/>
            <a:ext cx="73152" cy="457200"/>
          </a:xfrm>
          <a:prstGeom prst="rect">
            <a:avLst/>
          </a:prstGeom>
          <a:solidFill>
            <a:srgbClr val="C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3.2.2 双分支结构语法与二选一互斥执行流</a:t>
            </a:r>
            <a:endParaRPr sz="22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572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420624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Autofit/>
          </a:bodyPr>
          <a:lstStyle/>
          <a:p>
            <a:pPr>
              <a:lnSpc>
                <a:spcPct val="15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1">
                <a:solidFill>
                  <a:srgbClr val="282828"/>
                </a:solidFill>
                <a:latin typeface="微软雅黑"/>
                <a:ea typeface="微软雅黑"/>
              </a:rPr>
              <a:t>if-else 互斥二选一机制</a:t>
            </a:r>
            <a:endParaRPr sz="14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C00000"/>
                </a:solidFill>
                <a:latin typeface="微软雅黑"/>
                <a:ea typeface="微软雅黑"/>
              </a:rPr>
              <a:t>• 语法格式：
  if &lt;条件表达式&gt;:
      &lt;语句块 1&gt;
  else:
      &lt;语句块 2&gt;</a:t>
            </a:r>
            <a:endParaRPr sz="1400" b="0">
              <a:solidFill>
                <a:srgbClr val="C00000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互斥语义：</a:t>
            </a:r>
            <a:r>
              <a:rPr sz="1400" b="0">
                <a:solidFill>
                  <a:srgbClr val="00B050"/>
                </a:solidFill>
                <a:latin typeface="微软雅黑"/>
                <a:ea typeface="微软雅黑"/>
              </a:rPr>
              <a:t>条件表达式的评估结果非真即假，因此语句块 1 与语句块 2 必然执行其中之一，且绝不可能同时执行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！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执行后汇合：</a:t>
            </a:r>
            <a:r>
              <a:rPr sz="1400" b="0">
                <a:solidFill>
                  <a:srgbClr val="00B050"/>
                </a:solidFill>
                <a:latin typeface="微软雅黑"/>
                <a:ea typeface="微软雅黑"/>
              </a:rPr>
              <a:t>无论是走真分支还是假分支，分支结束后均重新汇聚于主干流程，继续向下执行。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代码对齐：</a:t>
            </a:r>
            <a:r>
              <a:rPr sz="1400" b="0">
                <a:solidFill>
                  <a:srgbClr val="7030A0"/>
                </a:solidFill>
                <a:latin typeface="微软雅黑"/>
                <a:ea typeface="微软雅黑"/>
              </a:rPr>
              <a:t>if 与 else 关键字必须严格位于相同的缩进垂直基准线上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9824" y="1014984"/>
            <a:ext cx="601675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eprint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5943600" cy="48463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条件表达式（三元运算符）：x if C else y</a:t>
            </a:r>
            <a:endParaRPr sz="22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572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420624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50" b="1">
                <a:solidFill>
                  <a:srgbClr val="282828"/>
                </a:solidFill>
                <a:latin typeface="微软雅黑"/>
                <a:ea typeface="微软雅黑"/>
              </a:rPr>
              <a:t>紧凑三元条件表达式</a:t>
            </a:r>
            <a:endParaRPr sz="145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语法格式：
  </a:t>
            </a:r>
            <a:r>
              <a:rPr sz="1600" b="0">
                <a:solidFill>
                  <a:srgbClr val="C00000"/>
                </a:solidFill>
                <a:latin typeface="微软雅黑"/>
                <a:ea typeface="微软雅黑"/>
              </a:rPr>
              <a:t>&lt;目标变量&gt; = &lt;表达式 1&gt; if &lt;条件&gt; else &lt;表达式 2&gt;</a:t>
            </a:r>
            <a:endParaRPr sz="1600" b="0">
              <a:solidFill>
                <a:srgbClr val="C00000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语义对应：</a:t>
            </a:r>
            <a:r>
              <a:rPr sz="1600" b="0">
                <a:solidFill>
                  <a:srgbClr val="00B050"/>
                </a:solidFill>
                <a:latin typeface="微软雅黑"/>
                <a:ea typeface="微软雅黑"/>
              </a:rPr>
              <a:t>若条件为真则返回表达式 1 的结果，否则返回表达式 2 的结果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优势对比：相比 4 行传统的 if-else 语句，三元条件表达式能够在一行内完成条件赋值，使代码更加凝练。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9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应用界限：</a:t>
            </a:r>
            <a:r>
              <a:rPr sz="1600" b="0">
                <a:solidFill>
                  <a:srgbClr val="00B050"/>
                </a:solidFill>
                <a:latin typeface="微软雅黑"/>
                <a:ea typeface="微软雅黑"/>
              </a:rPr>
              <a:t>仅适合单行、简单的赋值或返回值场景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；若分支逻辑包含复杂操作或多行处理，应坚持使用标准 if-else 保证可读性。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9824" y="1014984"/>
            <a:ext cx="601675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eprint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5943600" cy="48463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例题 4：两数较大值（2/2）：4种解法对比与运行验证</a:t>
            </a:r>
            <a:endParaRPr sz="17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566928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t># 例题 4 两数较大值 (4种写法对比)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,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0070C0"/>
                </a:solidFill>
                <a:latin typeface="Consolas"/>
                <a:ea typeface="Consolas"/>
              </a:rPr>
              <a:t>map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150">
                <a:solidFill>
                  <a:srgbClr val="0070C0"/>
                </a:solidFill>
                <a:latin typeface="Consolas"/>
                <a:ea typeface="Consolas"/>
              </a:rPr>
              <a:t>float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,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0070C0"/>
                </a:solidFill>
                <a:latin typeface="Consolas"/>
                <a:ea typeface="Consolas"/>
              </a:rPr>
              <a:t>input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请输入两数: 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.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split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latin typeface="Consolas"/>
                <a:ea typeface="Consolas"/>
              </a:rPr>
              <a:t> </a:t>
            </a:r>
            <a:endParaRPr sz="1150"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解法 1: 标准 if-else 双分支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b="1">
                <a:solidFill>
                  <a:srgbClr val="B70F17"/>
                </a:solidFill>
                <a:latin typeface="Consolas"/>
                <a:ea typeface="Consolas"/>
              </a:rPr>
              <a:t>if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&gt;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: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  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larger1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b="1">
                <a:solidFill>
                  <a:srgbClr val="B70F17"/>
                </a:solidFill>
                <a:latin typeface="Consolas"/>
                <a:ea typeface="Consolas"/>
              </a:rPr>
              <a:t>else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: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  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larger1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latin typeface="Consolas"/>
                <a:ea typeface="Consolas"/>
              </a:rPr>
              <a:t> </a:t>
            </a:r>
            <a:endParaRPr sz="1150"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解法 2: 单分支预设初始值法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larger2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b="1">
                <a:solidFill>
                  <a:srgbClr val="B70F17"/>
                </a:solidFill>
                <a:latin typeface="Consolas"/>
                <a:ea typeface="Consolas"/>
              </a:rPr>
              <a:t>if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&gt;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: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  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larger2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latin typeface="Consolas"/>
                <a:ea typeface="Consolas"/>
              </a:rPr>
              <a:t> </a:t>
            </a:r>
            <a:endParaRPr sz="1150"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解法 3: 三元条件表达式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larger3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 b="1">
                <a:solidFill>
                  <a:srgbClr val="B70F17"/>
                </a:solidFill>
                <a:latin typeface="Consolas"/>
                <a:ea typeface="Consolas"/>
              </a:rPr>
              <a:t>if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&gt;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 b="1">
                <a:solidFill>
                  <a:srgbClr val="B70F17"/>
                </a:solidFill>
                <a:latin typeface="Consolas"/>
                <a:ea typeface="Consolas"/>
              </a:rPr>
              <a:t>else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latin typeface="Consolas"/>
                <a:ea typeface="Consolas"/>
              </a:rPr>
              <a:t> </a:t>
            </a:r>
            <a:endParaRPr sz="1150"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解法 4: 内置函数 max()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larger4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0070C0"/>
                </a:solidFill>
                <a:latin typeface="Consolas"/>
                <a:ea typeface="Consolas"/>
              </a:rPr>
              <a:t>max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a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,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b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latin typeface="Consolas"/>
                <a:ea typeface="Consolas"/>
              </a:rPr>
              <a:t> </a:t>
            </a:r>
            <a:endParaRPr sz="1150"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0070C0"/>
                </a:solidFill>
                <a:latin typeface="Consolas"/>
                <a:ea typeface="Consolas"/>
              </a:rPr>
              <a:t>print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f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较大值结果: 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{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larger3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}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37960" y="1508760"/>
            <a:ext cx="4937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600" b="1">
                <a:solidFill>
                  <a:srgbClr val="B70F17"/>
                </a:solidFill>
                <a:latin typeface="微软雅黑"/>
                <a:ea typeface="微软雅黑"/>
              </a:defRPr>
            </a:pPr>
            <a:r>
              <a:t>【控制台运行结果示例】</a:t>
            </a:r>
            <a:endParaRPr sz="1600" b="1"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663440" cy="1737360"/>
          </a:xfrm>
          <a:prstGeom prst="rect">
            <a:avLst/>
          </a:prstGeom>
          <a:noFill/>
        </p:spPr>
        <p:txBody>
          <a:bodyPr wrap="square" lIns="65000" tIns="35000" rIns="65000" bIns="35000">
            <a:noAutofit/>
          </a:bodyPr>
          <a:lstStyle/>
          <a:p>
            <a:pPr>
              <a:lnSpc>
                <a:spcPct val="135000"/>
              </a:lnSpc>
              <a:spcAft>
                <a:spcPts val="100"/>
              </a:spcAft>
              <a:defRPr sz="1450">
                <a:latin typeface="微软雅黑"/>
                <a:ea typeface="微软雅黑"/>
              </a:defRPr>
            </a:pPr>
            <a:r>
              <a:rPr sz="1300">
                <a:solidFill>
                  <a:srgbClr val="212529"/>
                </a:solidFill>
                <a:latin typeface="微软雅黑"/>
              </a:rPr>
              <a:t>• 【用例 1（正数比较）】输入: 15 8  ➔  输出: 较大值: 15.0
  说明: a &gt; b 成立，返回 a 的值 15.0</a:t>
            </a:r>
            <a:endParaRPr sz="1300">
              <a:solidFill>
                <a:srgbClr val="212529"/>
              </a:solidFill>
              <a:latin typeface="微软雅黑"/>
            </a:endParaRP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212529"/>
                </a:solidFill>
                <a:latin typeface="微软雅黑"/>
              </a:rPr>
              <a:t>• 【用例 2（负数比较）】输入: -10 -3  ➔  输出: 较大值: -3.0
  说明: -10 &lt; -3，返回较大的负数 -3.0</a:t>
            </a:r>
            <a:endParaRPr sz="1300">
              <a:solidFill>
                <a:srgbClr val="212529"/>
              </a:solidFill>
              <a:latin typeface="微软雅黑"/>
            </a:endParaRP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212529"/>
                </a:solidFill>
                <a:latin typeface="微软雅黑"/>
              </a:rPr>
              <a:t>• 【用例 3（相等数值）】输入: 7.5 7.5  ➔  输出: 较大值: 7.5
  说明: 边界两数相等，分支判断均能正确处理</a:t>
            </a:r>
            <a:endParaRPr sz="130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37960" y="3822191"/>
            <a:ext cx="4937760" cy="2075688"/>
          </a:xfrm>
          <a:prstGeom prst="rect">
            <a:avLst/>
          </a:prstGeom>
          <a:solidFill>
            <a:srgbClr val="FFF5F5"/>
          </a:solidFill>
          <a:ln w="12700">
            <a:solidFill>
              <a:srgbClr val="E27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3822191"/>
            <a:ext cx="4937760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600" b="1">
                <a:solidFill>
                  <a:srgbClr val="B70F17"/>
                </a:solidFill>
                <a:latin typeface="微软雅黑"/>
                <a:ea typeface="微软雅黑"/>
              </a:defRPr>
            </a:pPr>
            <a:r>
              <a:rPr sz="1600" b="1">
                <a:latin typeface="微软雅黑"/>
                <a:ea typeface="微软雅黑"/>
              </a:rPr>
              <a:t>⚠️ 易错提醒 / 避坑指南</a:t>
            </a:r>
            <a:endParaRPr sz="1600" b="1"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4206240"/>
            <a:ext cx="4663440" cy="164592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>
                <a:solidFill>
                  <a:srgbClr val="282828"/>
                </a:solidFill>
                <a:latin typeface="微软雅黑"/>
                <a:ea typeface="微软雅黑"/>
              </a:rPr>
              <a:t>• 致命的字符串字典序比较：</a:t>
            </a:r>
            <a:r>
              <a:rPr sz="1400">
                <a:solidFill>
                  <a:srgbClr val="00B050"/>
                </a:solidFill>
                <a:latin typeface="微软雅黑"/>
                <a:ea typeface="微软雅黑"/>
              </a:rPr>
              <a:t>若写成 `a, b = input().split()` 且不转换类型，则比较的是字符串！</a:t>
            </a:r>
            <a:endParaRPr sz="140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>
                <a:solidFill>
                  <a:srgbClr val="282828"/>
                </a:solidFill>
                <a:latin typeface="微软雅黑"/>
                <a:ea typeface="微软雅黑"/>
              </a:rPr>
              <a:t>• </a:t>
            </a:r>
            <a:r>
              <a:rPr sz="1400">
                <a:solidFill>
                  <a:srgbClr val="7030A0"/>
                </a:solidFill>
                <a:latin typeface="微软雅黑"/>
                <a:ea typeface="微软雅黑"/>
              </a:rPr>
              <a:t>典型灾难案例："9" &gt; "10" 的结果是 True！因为字符 '9' 的 ASCII 码大于字符 '1'！</a:t>
            </a:r>
            <a:endParaRPr sz="140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>
                <a:solidFill>
                  <a:srgbClr val="282828"/>
                </a:solidFill>
                <a:latin typeface="微软雅黑"/>
                <a:ea typeface="微软雅黑"/>
              </a:rPr>
              <a:t>• 防御准则：数值运算与比较之前，必须显式调用 `int()` 或 `float()` 进行类型转换。</a:t>
            </a:r>
            <a:endParaRPr sz="140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37160" bIns="54864" rtlCol="0" anchor="ctr"/>
          <a:lstStyle/>
          <a:p>
            <a:pPr algn="ctr"/>
            <a:r>
              <a:rPr sz="1400" b="1">
                <a:solidFill>
                  <a:srgbClr val="C70E1D"/>
                </a:solidFill>
                <a:latin typeface="微软雅黑"/>
              </a:rPr>
              <a:t>【题目要求】 </a:t>
            </a:r>
            <a:r>
              <a:rPr sz="1300" b="0">
                <a:solidFill>
                  <a:srgbClr val="212529"/>
                </a:solidFill>
                <a:latin typeface="微软雅黑"/>
              </a:rPr>
              <a:t>从键盘输入两个数值 a 和 b，比较并输出其中的较大值（对比单分支、双分支、三元表达式及 max() 函数）。</a:t>
            </a:r>
            <a:endParaRPr sz="1300" b="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960120"/>
            <a:ext cx="73152" cy="457200"/>
          </a:xfrm>
          <a:prstGeom prst="rect">
            <a:avLst/>
          </a:prstGeom>
          <a:solidFill>
            <a:srgbClr val="C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例题 4：两数较大值（1/2）：算法解析与双分支流程图</a:t>
            </a:r>
            <a:endParaRPr sz="19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1148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374904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1">
                <a:solidFill>
                  <a:srgbClr val="282828"/>
                </a:solidFill>
                <a:latin typeface="微软雅黑"/>
                <a:ea typeface="微软雅黑"/>
              </a:rPr>
              <a:t>题目解析与双分支模型</a:t>
            </a:r>
            <a:endParaRPr sz="16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【题目需求】: 从键盘输入两个数值 a 和 b，比较并输出其中的较大值。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【解法演进】: 教材演示了 4 种不同解法（预设初始值单分支、标准双分支、三元条件表达式、内置 max 函数）。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【标准流程图】: 判定 `a &gt; b`，真出口导向 `larger = a`，假出口导向 `larger = b`，两路汇聚后统一打印。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4955" y="1069340"/>
            <a:ext cx="3376295" cy="52482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课堂实操：作业 3.1【公元年份闰年判断】</a:t>
            </a:r>
            <a:endParaRPr sz="22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53035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937760" cy="1920240"/>
          </a:xfrm>
          <a:prstGeom prst="rect">
            <a:avLst/>
          </a:prstGeom>
          <a:noFill/>
        </p:spPr>
        <p:txBody>
          <a:bodyPr wrap="square" lIns="65000" tIns="35000" rIns="65000" bIns="35000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20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1">
                <a:solidFill>
                  <a:srgbClr val="282828"/>
                </a:solidFill>
                <a:latin typeface="微软雅黑"/>
                <a:ea typeface="微软雅黑"/>
              </a:rPr>
              <a:t>📋 业务需求与功能规范</a:t>
            </a:r>
            <a:endParaRPr sz="13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从控制台输入一个四位公历年份整数 year。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依据公历置闰法则判定该年份是否为闰年，输出相应判定提示。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公历闰年法则：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① 普通年份能被 4 整除且不能被 100 整除的是闰年（如 2024 年）。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② 世纪年份必须能被 400 整除才是闰年（如 2000 年是闰年，1900 年是平年）。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③ 其他年份均为平年。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72200" y="1389888"/>
            <a:ext cx="53035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63040"/>
            <a:ext cx="4937760" cy="192024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20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1">
                <a:solidFill>
                  <a:srgbClr val="282828"/>
                </a:solidFill>
                <a:latin typeface="微软雅黑"/>
                <a:ea typeface="微软雅黑"/>
              </a:rPr>
              <a:t>📐 流程图设计引导框</a:t>
            </a:r>
            <a:endParaRPr sz="14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条件 A：`year % 400 == 0`（四百年一闰）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条件 B：`year % 4 == 0 and year % 100 != 0`（四年一闰且百年不闰）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逻辑复合：`A or B` 即可覆盖全部闰年情况。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流程图设计建议：设计一个包含起止、输入年份、复合判断菱形及两条互斥分支的标准图纸。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3566160"/>
            <a:ext cx="5303520" cy="2194560"/>
          </a:xfrm>
          <a:prstGeom prst="rect">
            <a:avLst/>
          </a:prstGeom>
          <a:solidFill>
            <a:srgbClr val="F5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39312"/>
            <a:ext cx="5029200" cy="2029968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8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1">
                <a:solidFill>
                  <a:srgbClr val="C70E1D"/>
                </a:solidFill>
                <a:latin typeface="微软雅黑"/>
              </a:rPr>
              <a:t>🤖 OpenCode 辅助提示词参考（严禁索要代码）
</a:t>
            </a:r>
            <a:endParaRPr sz="115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r>
              <a:rPr sz="1400">
                <a:solidFill>
                  <a:srgbClr val="212529"/>
                </a:solidFill>
                <a:latin typeface="微软雅黑"/>
              </a:rPr>
              <a:t>• 【流程图生成 Prompt】: "请为‘公历闰年判定算法’设计标准的算法流程图（使用 draw.io 或 Mermaid 代码），明确标出判断条件与真假分支，不要直接提供 Python 代码。"
• 【测试用例设计 Prompt】: "针对闰年判定程序，请给出 3 组代表性测试用例（必须包含 1900、2000、2024），并说明预期输出与判定依据。"</a:t>
            </a:r>
            <a:endParaRPr sz="140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72200" y="356616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3566160"/>
            <a:ext cx="530352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550" b="1">
                <a:solidFill>
                  <a:srgbClr val="30343A"/>
                </a:solidFill>
                <a:latin typeface="微软雅黑"/>
                <a:ea typeface="微软雅黑"/>
              </a:defRPr>
            </a:pPr>
            <a:r>
              <a:t>【控制台必测用例（填入任务书）】</a:t>
            </a:r>
            <a:endParaRPr sz="155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3977639"/>
            <a:ext cx="5029200" cy="1691640"/>
          </a:xfrm>
          <a:prstGeom prst="rect">
            <a:avLst/>
          </a:prstGeom>
          <a:noFill/>
        </p:spPr>
        <p:txBody>
          <a:bodyPr wrap="square" lIns="65000" tIns="35000" rIns="65000" bIns="35000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450" b="0">
                <a:latin typeface="微软雅黑"/>
                <a:ea typeface="微软雅黑"/>
              </a:defRPr>
            </a:pPr>
            <a:endParaRPr sz="1150" b="0">
              <a:solidFill>
                <a:srgbClr val="777777"/>
              </a:solidFill>
              <a:latin typeface="微软雅黑"/>
              <a:ea typeface="微软雅黑"/>
            </a:endParaRPr>
          </a:p>
          <a:p>
            <a:r>
              <a:rPr sz="1500">
                <a:solidFill>
                  <a:srgbClr val="212529"/>
                </a:solidFill>
                <a:latin typeface="微软雅黑"/>
              </a:rPr>
              <a:t>• 【用例 1（世纪平年）】输入: 1900 ➔ 输出: 不是闰年
  验证: 能被 100 整除但不能被 400 整除，必测核心陷阱</a:t>
            </a:r>
            <a:endParaRPr sz="1500">
              <a:solidFill>
                <a:srgbClr val="212529"/>
              </a:solidFill>
              <a:latin typeface="微软雅黑"/>
            </a:endParaRPr>
          </a:p>
          <a:p>
            <a:r>
              <a:rPr sz="1500">
                <a:solidFill>
                  <a:srgbClr val="212529"/>
                </a:solidFill>
                <a:latin typeface="微软雅黑"/>
              </a:rPr>
              <a:t>• 【用例 2（世纪闰年）】输入: 2000 ➔ 输出: 是闰年
  验证: 能被 400 整除，测试世纪闰年分支</a:t>
            </a:r>
            <a:endParaRPr sz="1500">
              <a:solidFill>
                <a:srgbClr val="212529"/>
              </a:solidFill>
              <a:latin typeface="微软雅黑"/>
            </a:endParaRPr>
          </a:p>
          <a:p>
            <a:r>
              <a:rPr sz="1500">
                <a:solidFill>
                  <a:srgbClr val="212529"/>
                </a:solidFill>
                <a:latin typeface="微软雅黑"/>
              </a:rPr>
              <a:t>• 【用例 3（普通闰年）】输入: 2024 ➔ 输出: 是闰年
  验证: 能被 4 整除且不能被 100 整除，普通闰年规则</a:t>
            </a:r>
            <a:endParaRPr sz="150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5852160"/>
            <a:ext cx="1078992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lstStyle/>
          <a:p>
            <a:pPr algn="ctr">
              <a:defRPr sz="1450" b="1">
                <a:solidFill>
                  <a:srgbClr val="30343A"/>
                </a:solidFill>
                <a:latin typeface="微软雅黑"/>
                <a:ea typeface="微软雅黑"/>
              </a:defRPr>
            </a:pPr>
            <a:r>
              <a:t>⚠️ </a:t>
            </a:r>
            <a:r>
              <a:rPr lang="zh-CN"/>
              <a:t>提示</a:t>
            </a:r>
            <a:r>
              <a:rPr lang="en-US" altLang="zh-CN"/>
              <a:t>：</a:t>
            </a:r>
            <a:r>
              <a:t>须在本地终端自主运行测试</a:t>
            </a:r>
            <a:r>
              <a:rPr lang="zh-CN"/>
              <a:t>代码</a:t>
            </a:r>
            <a:r>
              <a:t>，通过所有用例后将截图填入任务书。</a:t>
            </a:r>
            <a:endParaRPr sz="145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744220"/>
            <a:ext cx="10789920" cy="589280"/>
          </a:xfrm>
          <a:prstGeom prst="rect">
            <a:avLst/>
          </a:prstGeom>
          <a:solidFill>
            <a:srgbClr val="FFF8F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37160" bIns="54864" rtlCol="0" anchor="ctr"/>
          <a:lstStyle/>
          <a:p>
            <a:r>
              <a:rPr>
                <a:solidFill>
                  <a:schemeClr val="tx1"/>
                </a:solidFill>
              </a:rPr>
              <a:t>🎯 课堂实操指引 ① 绘图（draw.io/Mermaid） ➔ ② 编码（Python代码） ➔ ③ 运行右侧用例并将截图填入《实验任务书（上）》 ⏱️ 建议用时：8~10分钟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932688"/>
            <a:ext cx="73152" cy="42062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OpenCode 课堂实操规范与 MCP 接入指引</a:t>
            </a:r>
            <a:endParaRPr sz="22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493776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250" b="1">
                <a:solidFill>
                  <a:srgbClr val="282828"/>
                </a:solidFill>
                <a:latin typeface="微软雅黑"/>
                <a:ea typeface="微软雅黑"/>
              </a:rPr>
              <a:t>OpenCode 连接 draw.io MCP 与工程规范</a:t>
            </a:r>
            <a:endParaRPr sz="125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uFillTx/>
                <a:latin typeface="FangS-SC" panose="02010609060101010101" charset="-122"/>
                <a:ea typeface="仿宋-简" panose="02010609060101010101" charset="-122"/>
              </a:rPr>
              <a:t>• 1. MCP 命令行极速配置：
   `opencode mcp add drawio -- npx -y @drawio/mcp`</a:t>
            </a:r>
            <a:endParaRPr sz="1600" b="0">
              <a:solidFill>
                <a:srgbClr val="282828"/>
              </a:solidFill>
              <a:uFillTx/>
              <a:latin typeface="FangS-SC" panose="02010609060101010101" charset="-122"/>
              <a:ea typeface="仿宋-简" panose="02010609060101010101" charset="-122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uFillTx/>
                <a:latin typeface="FangS-SC" panose="02010609060101010101" charset="-122"/>
                <a:ea typeface="仿宋-简" panose="02010609060101010101" charset="-122"/>
              </a:rPr>
              <a:t>• 2. 连接验证指令：
   `opencode mcp list` 确认 drawio 工具已就绪。</a:t>
            </a:r>
            <a:endParaRPr sz="1600" b="0">
              <a:solidFill>
                <a:srgbClr val="282828"/>
              </a:solidFill>
              <a:uFillTx/>
              <a:latin typeface="FangS-SC" panose="02010609060101010101" charset="-122"/>
              <a:ea typeface="仿宋-简" panose="02010609060101010101" charset="-122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uFillTx/>
                <a:latin typeface="FangS-SC" panose="02010609060101010101" charset="-122"/>
                <a:ea typeface="仿宋-简" panose="02010609060101010101" charset="-122"/>
              </a:rPr>
              <a:t>• 3. 离线/网络受限备选方案 (Mermaid Native Fallback)：
   在 OpenCode 中直接编写 Mermaid 文本，渲染预览后可一键贴入 draw.io 导出矢量图。</a:t>
            </a:r>
            <a:endParaRPr sz="1600" b="0">
              <a:solidFill>
                <a:srgbClr val="282828"/>
              </a:solidFill>
              <a:uFillTx/>
              <a:latin typeface="FangS-SC" panose="02010609060101010101" charset="-122"/>
              <a:ea typeface="仿宋-简" panose="02010609060101010101" charset="-122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>
                <a:solidFill>
                  <a:srgbClr val="282828"/>
                </a:solidFill>
                <a:uFillTx/>
                <a:latin typeface="FangS-SC" panose="02010609060101010101" charset="-122"/>
                <a:ea typeface="仿宋-简" panose="02010609060101010101" charset="-122"/>
              </a:rPr>
              <a:t>• 4. 辅助提示词实践方法：</a:t>
            </a:r>
            <a:endParaRPr sz="1600" b="0">
              <a:solidFill>
                <a:srgbClr val="282828"/>
              </a:solidFill>
              <a:uFillTx/>
              <a:latin typeface="FangS-SC" panose="02010609060101010101" charset="-122"/>
              <a:ea typeface="仿宋-简" panose="02010609060101010101" charset="-122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>
                <a:solidFill>
                  <a:srgbClr val="282828"/>
                </a:solidFill>
                <a:uFillTx/>
                <a:latin typeface="FangS-SC" panose="02010609060101010101" charset="-122"/>
                <a:ea typeface="仿宋-简" panose="02010609060101010101" charset="-122"/>
              </a:rPr>
              <a:t>    • 流程图建模提示词 -&gt; 引导 AI 仅输出流程图模型，明确真假出口与闭环，禁止直接吐出代码</a:t>
            </a:r>
            <a:endParaRPr sz="1600" b="0">
              <a:solidFill>
                <a:srgbClr val="282828"/>
              </a:solidFill>
              <a:uFillTx/>
              <a:latin typeface="FangS-SC" panose="02010609060101010101" charset="-122"/>
              <a:ea typeface="仿宋-简" panose="02010609060101010101" charset="-122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>
                <a:solidFill>
                  <a:srgbClr val="282828"/>
                </a:solidFill>
                <a:uFillTx/>
                <a:latin typeface="FangS-SC" panose="02010609060101010101" charset="-122"/>
                <a:ea typeface="仿宋-简" panose="02010609060101010101" charset="-122"/>
              </a:rPr>
              <a:t>    • 测试用例提示词 -&gt; 引导 AI 设计正常用例、边界临界用例与异常用例，辅助自主验证</a:t>
            </a:r>
            <a:endParaRPr sz="1600" b="0">
              <a:solidFill>
                <a:srgbClr val="282828"/>
              </a:solidFill>
              <a:uFillTx/>
              <a:latin typeface="FangS-SC" panose="02010609060101010101" charset="-122"/>
              <a:ea typeface="仿宋-简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72200" y="1051560"/>
            <a:ext cx="5303520" cy="4846320"/>
          </a:xfrm>
          <a:prstGeom prst="rect">
            <a:avLst/>
          </a:prstGeom>
          <a:solidFill>
            <a:srgbClr val="F8F9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5029200" cy="4572000"/>
          </a:xfrm>
          <a:prstGeom prst="rect">
            <a:avLst/>
          </a:prstGeom>
          <a:noFill/>
        </p:spPr>
        <p:txBody>
          <a:bodyPr wrap="none" lIns="65000" tIns="35000" rIns="65000" bIns="35000">
            <a:norm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0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1">
                <a:solidFill>
                  <a:srgbClr val="282828"/>
                </a:solidFill>
                <a:latin typeface="微软雅黑"/>
                <a:ea typeface="微软雅黑"/>
              </a:rPr>
              <a:t>Mermaid 免安装原生流程图范例 (可直接渲染)</a:t>
            </a:r>
            <a:endParaRPr sz="16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flowchart TD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  A([开始]) --&gt; B[/输入 year/]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  B --&gt; C{year % 400 == 0 或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  (year % 4 == 0 且 year % 100 != 0)?}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  C -- 是 (True) --&gt; D[/输出 是闰年/]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  C -- 否 (False) --&gt; E[/输出 不是闰年/]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  D --&gt; F([结束])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  E --&gt; F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endParaRPr sz="2000"/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%% 国标 5 大图元对应: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%% 圆角矩形: ([起止])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%% 平行四边形: [/输入输出/]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%% 矩形: [处理操作]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%% 菱形: {判断分支}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3.2.3 多分支结构语法与 if-elif-else 阶梯</a:t>
            </a:r>
            <a:endParaRPr sz="22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572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420624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 lnSpcReduction="10000"/>
          </a:bodyPr>
          <a:lstStyle/>
          <a:p>
            <a:pPr>
              <a:lnSpc>
                <a:spcPct val="125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1">
                <a:solidFill>
                  <a:srgbClr val="282828"/>
                </a:solidFill>
                <a:latin typeface="微软雅黑"/>
                <a:ea typeface="微软雅黑"/>
              </a:rPr>
              <a:t>多分支阶梯的执行流与排他性</a:t>
            </a:r>
            <a:endParaRPr sz="14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C00000"/>
                </a:solidFill>
                <a:latin typeface="微软雅黑"/>
                <a:ea typeface="微软雅黑"/>
              </a:rPr>
              <a:t>• 语法格式：
  if &lt;条件 1&gt;:
      &lt;语句块 1&gt;
  elif &lt;条件 2&gt;:
      &lt;语句块 2&gt;
  else:
      &lt;语句块 n&gt;</a:t>
            </a:r>
            <a:endParaRPr sz="1400" b="0">
              <a:solidFill>
                <a:srgbClr val="C00000"/>
              </a:solidFill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自上而下顺序判断：</a:t>
            </a:r>
            <a:r>
              <a:rPr sz="1400" b="0">
                <a:solidFill>
                  <a:srgbClr val="00B050"/>
                </a:solidFill>
                <a:latin typeface="微软雅黑"/>
                <a:ea typeface="微软雅黑"/>
              </a:rPr>
              <a:t>Python 严格自首个 if 开始向下依次评估各条件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首选命中即跳出：</a:t>
            </a:r>
            <a:r>
              <a:rPr sz="1400" b="0">
                <a:solidFill>
                  <a:srgbClr val="7030A0"/>
                </a:solidFill>
                <a:latin typeface="微软雅黑"/>
                <a:ea typeface="微软雅黑"/>
              </a:rPr>
              <a:t>一旦某个条件评估为真，立即执行该分支的代码块，执行完毕后彻底跳过后续所有的 elif 与 else！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后置 elif 的隐含区间：</a:t>
            </a:r>
            <a:r>
              <a:rPr sz="1400" b="0">
                <a:solidFill>
                  <a:srgbClr val="7030A0"/>
                </a:solidFill>
                <a:latin typeface="微软雅黑"/>
                <a:ea typeface="微软雅黑"/>
              </a:rPr>
              <a:t>进入 elif 2 的前提是条件 1 必然为假；因此在条件 2 中无须重复排除条件 1 的范围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else 保底兜底：</a:t>
            </a:r>
            <a:r>
              <a:rPr sz="1400" b="0">
                <a:solidFill>
                  <a:srgbClr val="FF0000"/>
                </a:solidFill>
                <a:latin typeface="微软雅黑"/>
                <a:ea typeface="微软雅黑"/>
              </a:rPr>
              <a:t>当上方所有的 if 与 elif 均不成立时，最终无条件进入 else 保底分支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9824" y="1014984"/>
            <a:ext cx="601675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eprint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5943600" cy="48463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例题 5：分档电价多分支计算</a:t>
            </a:r>
            <a:endParaRPr sz="250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bIns="54864" rtlCol="0" anchor="ctr"/>
          <a:lstStyle/>
          <a:p>
            <a:pPr algn="ctr"/>
            <a:r>
              <a:rPr sz="1600" b="1">
                <a:solidFill>
                  <a:srgbClr val="C70E1D"/>
                </a:solidFill>
                <a:latin typeface="微软雅黑"/>
              </a:rPr>
              <a:t>【题目要求】 </a:t>
            </a:r>
            <a:r>
              <a:rPr sz="1600" b="0">
                <a:solidFill>
                  <a:srgbClr val="212529"/>
                </a:solidFill>
                <a:latin typeface="微软雅黑"/>
              </a:rPr>
              <a:t>输入居民月用电量 x（度），根据不同用电区间采用统一对应阶梯单价，计算应缴总电费。</a:t>
            </a:r>
            <a:endParaRPr sz="1600" b="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73152" cy="457200"/>
          </a:xfrm>
          <a:prstGeom prst="rect">
            <a:avLst/>
          </a:prstGeom>
          <a:solidFill>
            <a:srgbClr val="C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669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39496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# 例题 5</a:t>
            </a:r>
            <a:r>
              <a:rPr lang="en-US" sz="2000"/>
              <a:t>：</a:t>
            </a:r>
            <a:r>
              <a:rPr sz="2000"/>
              <a:t> 分档电价计算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x = float(input("请输入月用电量 (度): "))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endParaRPr sz="1600"/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if x &lt; 0: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    print("输入错误！用电量不能为负数")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elif x &lt;= 230: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    cost = x * 0.5283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    print(f"应缴电费: {cost:.2f} 元")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elif x &lt;= 400: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    cost = x * 0.5783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    print(f"应缴电费: {cost:.2f} 元")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else: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    cost = x * 0.8283</a:t>
            </a:r>
            <a:endParaRPr sz="16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212529"/>
                </a:solidFill>
                <a:latin typeface="Consolas"/>
              </a:rPr>
              <a:t>    print(f"应缴电费: {cost:.2f} 元")</a:t>
            </a:r>
            <a:endParaRPr sz="1600">
              <a:solidFill>
                <a:srgbClr val="212529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37960" y="1508760"/>
            <a:ext cx="4937760" cy="2194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C70E1D"/>
                </a:solidFill>
                <a:latin typeface="微软雅黑"/>
              </a:defRPr>
            </a:pPr>
            <a:r>
              <a:t>【控制台运行结果示例】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12529"/>
                </a:solidFill>
                <a:latin typeface="微软雅黑"/>
              </a:rPr>
              <a:t>• 【用例 1（第 1 档）】输入: 100 ➔ 100 * 0.5283 = 52.83 元
  说明: 落在 [0, 230] 区间，统一单价 0.5283</a:t>
            </a:r>
            <a:endParaRPr sz="1300">
              <a:solidFill>
                <a:srgbClr val="212529"/>
              </a:solidFill>
              <a:latin typeface="微软雅黑"/>
            </a:endParaRPr>
          </a:p>
          <a:p>
            <a:r>
              <a:rPr sz="1300">
                <a:solidFill>
                  <a:srgbClr val="212529"/>
                </a:solidFill>
                <a:latin typeface="微软雅黑"/>
              </a:rPr>
              <a:t>• 【用例 2（第 2 档）】输入: 300 ➔ 300 * 0.5783 = 173.49 元
  说明: 落在 (230, 400] 区间，统一单价 0.5783</a:t>
            </a:r>
            <a:endParaRPr sz="1300">
              <a:solidFill>
                <a:srgbClr val="212529"/>
              </a:solidFill>
              <a:latin typeface="微软雅黑"/>
            </a:endParaRPr>
          </a:p>
          <a:p>
            <a:r>
              <a:rPr sz="1300">
                <a:solidFill>
                  <a:srgbClr val="212529"/>
                </a:solidFill>
                <a:latin typeface="微软雅黑"/>
              </a:rPr>
              <a:t>• 【用例 3（输入防御）】输入: -15 ➔ 提示: 输入错误！
  说明: 前置拦截负数非法输入</a:t>
            </a:r>
            <a:endParaRPr sz="130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37960" y="3822191"/>
            <a:ext cx="4937760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3822191"/>
            <a:ext cx="493776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C70E1D"/>
                </a:solidFill>
                <a:latin typeface="微软雅黑"/>
              </a:defRPr>
            </a:pPr>
            <a:r>
              <a:t>💡 教材原题说明与教学点拨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206240"/>
            <a:ext cx="466344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微软雅黑"/>
              </a:defRPr>
            </a:pPr>
            <a:r>
              <a:rPr sz="1400"/>
              <a:t>• 教材原题模型：采用“全额分档”简化计费（落入某一档，全量按该档单价算）；</a:t>
            </a:r>
            <a:endParaRPr sz="1400"/>
          </a:p>
          <a:p>
            <a:pPr>
              <a:defRPr sz="1100">
                <a:solidFill>
                  <a:srgbClr val="212529"/>
                </a:solidFill>
                <a:latin typeface="微软雅黑"/>
              </a:defRPr>
            </a:pPr>
            <a:r>
              <a:rPr sz="1400"/>
              <a:t>• 现实公平差异：现实中供电局采用“超额累进制”（前230度按基价，超出部分加价）；</a:t>
            </a:r>
            <a:endParaRPr sz="1400"/>
          </a:p>
          <a:p>
            <a:pPr>
              <a:defRPr sz="1100">
                <a:solidFill>
                  <a:srgbClr val="212529"/>
                </a:solidFill>
                <a:latin typeface="微软雅黑"/>
              </a:defRPr>
            </a:pPr>
            <a:r>
              <a:rPr sz="1400"/>
              <a:t>• 隐含边界逻辑：命中 elif x &lt;= 400 时，前一分支不成立已自动保证 x &gt; 230。</a:t>
            </a:r>
            <a:endParaRPr sz="1400"/>
          </a:p>
        </p:txBody>
      </p:sp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例题 6：多分支阶梯实践（空气质量 AQI 判定）</a:t>
            </a:r>
            <a:endParaRPr sz="250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bIns="54864" rtlCol="0" anchor="ctr"/>
          <a:lstStyle/>
          <a:p>
            <a:pPr algn="ctr"/>
            <a:r>
              <a:rPr sz="1350" b="1">
                <a:solidFill>
                  <a:srgbClr val="C70E1D"/>
                </a:solidFill>
                <a:latin typeface="微软雅黑"/>
              </a:rPr>
              <a:t>【题目要求】 </a:t>
            </a:r>
            <a:r>
              <a:rPr sz="1250" b="0">
                <a:solidFill>
                  <a:srgbClr val="212529"/>
                </a:solidFill>
                <a:latin typeface="微软雅黑"/>
              </a:rPr>
              <a:t>输入空气质量指数 AQI（整数），根据国家标准区间（优、良、轻度、中度、重度、严重污染）判定并输出空气质量级别。</a:t>
            </a:r>
            <a:endParaRPr sz="1250" b="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73152" cy="457200"/>
          </a:xfrm>
          <a:prstGeom prst="rect">
            <a:avLst/>
          </a:prstGeom>
          <a:solidFill>
            <a:srgbClr val="C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669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394960" cy="429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# 例题 6 空气质量 (AQI) 阶梯判定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aqi = int(input("请输入 AQI 数值: "))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endParaRPr sz="1400"/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if aqi &lt; 0: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    print("输入错误！AQI 不能为负数")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elif aqi &lt;= 50: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    print("一级 (优): 空气清新，极适宜户外活动")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elif aqi &lt;= 100: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    print("二级 (良): 空气质量可接受，可正常活动")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elif aqi &lt;= 150: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    print("三级 (轻度污染): 敏感人群减少户外活动")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elif aqi &lt;= 200: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    print("四级 (中度污染): 敏感人群避免剧烈运动")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elif aqi &lt;= 300: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    print("五级 (重度污染): 所有人适当减少户外活动")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else:</a:t>
            </a:r>
            <a:endParaRPr sz="1400">
              <a:solidFill>
                <a:srgbClr val="212529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529"/>
                </a:solidFill>
                <a:latin typeface="Consolas"/>
              </a:rPr>
              <a:t>    print("六级 (严重污染): 尽量停留在室内")</a:t>
            </a:r>
            <a:endParaRPr sz="1400">
              <a:solidFill>
                <a:srgbClr val="212529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37960" y="1508760"/>
            <a:ext cx="4937760" cy="2194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C70E1D"/>
                </a:solidFill>
                <a:latin typeface="微软雅黑"/>
              </a:defRPr>
            </a:pPr>
            <a:r>
              <a:t>【控制台运行结果示例】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12529"/>
                </a:solidFill>
                <a:latin typeface="微软雅黑"/>
              </a:rPr>
              <a:t>• 【用例 1（一级优）】输入: 35 ➔ 输出: 一级 (优)
  说明: 落在 [0, 50] 最优区间</a:t>
            </a:r>
            <a:endParaRPr sz="1400">
              <a:solidFill>
                <a:srgbClr val="212529"/>
              </a:solidFill>
              <a:latin typeface="微软雅黑"/>
            </a:endParaRPr>
          </a:p>
          <a:p>
            <a:r>
              <a:rPr sz="1400">
                <a:solidFill>
                  <a:srgbClr val="212529"/>
                </a:solidFill>
                <a:latin typeface="微软雅黑"/>
              </a:rPr>
              <a:t>• 【用例 2（二级良）】输入: 75 ➔ 输出: 二级 (良)
  说明: 落在 (50, 100] 区间</a:t>
            </a:r>
            <a:endParaRPr sz="1400">
              <a:solidFill>
                <a:srgbClr val="212529"/>
              </a:solidFill>
              <a:latin typeface="微软雅黑"/>
            </a:endParaRPr>
          </a:p>
          <a:p>
            <a:r>
              <a:rPr sz="1400">
                <a:solidFill>
                  <a:srgbClr val="212529"/>
                </a:solidFill>
                <a:latin typeface="微软雅黑"/>
              </a:rPr>
              <a:t>• 【用例 3（边界验证）】输入: 50 ➔ 输出: 一级 (优)
  说明: 验证 &lt;= 50 闭区间右边界</a:t>
            </a:r>
            <a:endParaRPr sz="1400">
              <a:solidFill>
                <a:srgbClr val="212529"/>
              </a:solidFill>
              <a:latin typeface="微软雅黑"/>
            </a:endParaRPr>
          </a:p>
          <a:p>
            <a:r>
              <a:rPr sz="1400">
                <a:solidFill>
                  <a:srgbClr val="212529"/>
                </a:solidFill>
                <a:latin typeface="微软雅黑"/>
              </a:rPr>
              <a:t>• 【用例 4（非法拦截）】输入: -10 ➔ 输出: 输入错误！
  说明: 前置分支拦截非法负数</a:t>
            </a:r>
            <a:endParaRPr sz="140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37960" y="3822191"/>
            <a:ext cx="4937760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3822191"/>
            <a:ext cx="493776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70E1D"/>
                </a:solidFill>
                <a:latin typeface="微软雅黑"/>
              </a:defRPr>
            </a:pPr>
            <a:r>
              <a:t>💡 多分支阶梯与隐含边界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206240"/>
            <a:ext cx="466344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12529"/>
                </a:solidFill>
                <a:latin typeface="微软雅黑"/>
              </a:rPr>
              <a:t>• 隐含下界：命中 elif aqi &lt;= 100 时，前一分支不成立已自动保证 aqi &gt; 50；</a:t>
            </a:r>
            <a:endParaRPr sz="1400">
              <a:solidFill>
                <a:srgbClr val="212529"/>
              </a:solidFill>
              <a:latin typeface="微软雅黑"/>
            </a:endParaRPr>
          </a:p>
          <a:p>
            <a:r>
              <a:rPr sz="1400">
                <a:solidFill>
                  <a:srgbClr val="212529"/>
                </a:solidFill>
                <a:latin typeface="微软雅黑"/>
              </a:rPr>
              <a:t>• 阶梯单调性：多分支条件必须严格按数值升序（或降序）书写，乱序会导致逻辑死路；</a:t>
            </a:r>
            <a:endParaRPr sz="1400">
              <a:solidFill>
                <a:srgbClr val="212529"/>
              </a:solidFill>
              <a:latin typeface="微软雅黑"/>
            </a:endParaRPr>
          </a:p>
          <a:p>
            <a:r>
              <a:rPr sz="1400">
                <a:solidFill>
                  <a:srgbClr val="212529"/>
                </a:solidFill>
                <a:latin typeface="微软雅黑"/>
              </a:rPr>
              <a:t>• 综合成绩评定：平时*0.1 + 实验*0.3 + 期末*0.6 合成总评后，同样采用此阶梯模式。</a:t>
            </a:r>
            <a:endParaRPr sz="1400">
              <a:solidFill>
                <a:srgbClr val="212529"/>
              </a:solidFill>
              <a:latin typeface="微软雅黑"/>
            </a:endParaRPr>
          </a:p>
        </p:txBody>
      </p:sp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课堂实操：作业 3.3【四科成绩评优】</a:t>
            </a:r>
            <a:endParaRPr sz="19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53035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075555" cy="1920240"/>
          </a:xfrm>
          <a:prstGeom prst="rect">
            <a:avLst/>
          </a:prstGeom>
          <a:noFill/>
        </p:spPr>
        <p:txBody>
          <a:bodyPr wrap="square" lIns="65000" tIns="35000" rIns="65000" bIns="35000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20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1">
                <a:solidFill>
                  <a:srgbClr val="282828"/>
                </a:solidFill>
                <a:latin typeface="微软雅黑"/>
                <a:ea typeface="微软雅黑"/>
              </a:rPr>
              <a:t>📋 业务需求与功能规范</a:t>
            </a:r>
            <a:endParaRPr sz="13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从键盘输入一名学生的语文、数学、英语、科学四门课程成绩（百分制数值）。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评优规则要求同时满足两个硬性指标：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① 总分门槛：四门课程总分必须达到 380 分及以上；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② 单科门槛：每一门课程单科成绩均不得低于 95 分（无短板偏科）。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0">
                <a:solidFill>
                  <a:srgbClr val="282828"/>
                </a:solidFill>
                <a:latin typeface="微软雅黑"/>
                <a:ea typeface="微软雅黑"/>
              </a:rPr>
              <a:t>• 满足以上全部条件的评定为“学优生”，否则输出“非学优生”。</a:t>
            </a:r>
            <a:endParaRPr sz="13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72200" y="1389888"/>
            <a:ext cx="53035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63040"/>
            <a:ext cx="4937760" cy="192024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20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1">
                <a:solidFill>
                  <a:srgbClr val="282828"/>
                </a:solidFill>
                <a:latin typeface="微软雅黑"/>
                <a:ea typeface="微软雅黑"/>
              </a:rPr>
              <a:t>📐 流程图设计引导框</a:t>
            </a:r>
            <a:endParaRPr sz="14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第一步：读取 4 门成绩并做数值合法性防御校验（0 &lt;= score &lt;= 100）。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第二步：计算四科总分 `total = s1 + s2 + s3 + s4`。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第三步：多条件复合判定：`total &gt;= 380 and min_score &gt;= 95`。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流程图设计建议：设计包含数据有效性过滤判断与最终评优判断的双层决策树。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3566160"/>
            <a:ext cx="5303520" cy="2194560"/>
          </a:xfrm>
          <a:prstGeom prst="rect">
            <a:avLst/>
          </a:prstGeom>
          <a:solidFill>
            <a:srgbClr val="F5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39312"/>
            <a:ext cx="5029200" cy="2029968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8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300" b="1">
                <a:solidFill>
                  <a:srgbClr val="C70E1D"/>
                </a:solidFill>
                <a:latin typeface="微软雅黑"/>
              </a:rPr>
              <a:t>🤖 OpenCode 辅助提示词参考（严禁索要代码）
</a:t>
            </a:r>
            <a:endParaRPr sz="115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r>
              <a:rPr sz="1400">
                <a:solidFill>
                  <a:srgbClr val="212529"/>
                </a:solidFill>
                <a:latin typeface="微软雅黑"/>
              </a:rPr>
              <a:t>• 【流程图生成 Prompt】: "请为‘四科成绩评优系统’设计控制流程图，包含总分 &gt;= 380 与各单科 &gt;= 95 的判断逻辑，不要直接提供 Python 代码。"
• 【测试用例设计 Prompt】: "针对四科成绩评优，请设计 3 组测试用例，重点覆盖‘压线全优’、‘总分超标但单科差 1 分’及‘全科低分’，说明预期输出。"</a:t>
            </a:r>
            <a:endParaRPr sz="140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72200" y="356616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3566160"/>
            <a:ext cx="530352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550" b="1">
                <a:solidFill>
                  <a:srgbClr val="30343A"/>
                </a:solidFill>
                <a:latin typeface="微软雅黑"/>
                <a:ea typeface="微软雅黑"/>
              </a:defRPr>
            </a:pPr>
            <a:r>
              <a:t>【控制台必测用例（填入任务书）】</a:t>
            </a:r>
            <a:endParaRPr sz="155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3977639"/>
            <a:ext cx="5029200" cy="1691640"/>
          </a:xfrm>
          <a:prstGeom prst="rect">
            <a:avLst/>
          </a:prstGeom>
          <a:noFill/>
        </p:spPr>
        <p:txBody>
          <a:bodyPr wrap="square" lIns="65000" tIns="35000" rIns="65000" bIns="35000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450" b="0">
                <a:latin typeface="微软雅黑"/>
                <a:ea typeface="微软雅黑"/>
              </a:defRPr>
            </a:pPr>
            <a:r>
              <a:rPr sz="1250">
                <a:solidFill>
                  <a:srgbClr val="212529"/>
                </a:solidFill>
                <a:latin typeface="微软雅黑"/>
              </a:rPr>
              <a:t>• 【用例 1（压线全优）】输入: 95 95 95 95 ➔ 输出: 该生是学优生.
  验证: 总分 380，每科 95，最小合法达标边界</a:t>
            </a:r>
            <a:endParaRPr sz="1250">
              <a:solidFill>
                <a:srgbClr val="212529"/>
              </a:solidFill>
              <a:latin typeface="微软雅黑"/>
            </a:endParaRPr>
          </a:p>
          <a:p>
            <a:r>
              <a:rPr sz="1250">
                <a:solidFill>
                  <a:srgbClr val="212529"/>
                </a:solidFill>
                <a:latin typeface="微软雅黑"/>
              </a:rPr>
              <a:t>• 【用例 2（单科偏科）】输入: 100 95 95 94 ➔ 输出: 该生不是学优生.
  验证: 总分 384 远超 380，但科学 94 未达标</a:t>
            </a:r>
            <a:endParaRPr sz="1250">
              <a:solidFill>
                <a:srgbClr val="212529"/>
              </a:solidFill>
              <a:latin typeface="微软雅黑"/>
            </a:endParaRPr>
          </a:p>
          <a:p>
            <a:r>
              <a:rPr sz="1250">
                <a:solidFill>
                  <a:srgbClr val="212529"/>
                </a:solidFill>
                <a:latin typeface="微软雅黑"/>
              </a:rPr>
              <a:t>• 【用例 3（全科低分）】输入: 10 10 10 10 ➔ 输出: 该生不是学优生.
  验证: 总分 40 远低于 380，检验拼接 Bug 拦截</a:t>
            </a:r>
            <a:endParaRPr sz="125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5852160"/>
            <a:ext cx="1078992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lstStyle/>
          <a:p>
            <a:pPr algn="ctr">
              <a:defRPr sz="1450" b="1">
                <a:solidFill>
                  <a:srgbClr val="30343A"/>
                </a:solidFill>
                <a:latin typeface="微软雅黑"/>
                <a:ea typeface="微软雅黑"/>
              </a:defRPr>
            </a:pPr>
            <a:r>
              <a:t>⚠️ </a:t>
            </a:r>
            <a:r>
              <a:rPr lang="zh-CN"/>
              <a:t>提示</a:t>
            </a:r>
            <a:r>
              <a:t>：须在任务书中回答教材 Bug 诊断原因，并粘贴修复后的代码与运行截图。</a:t>
            </a:r>
            <a:endParaRPr sz="145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706755"/>
            <a:ext cx="10789920" cy="646430"/>
          </a:xfrm>
          <a:prstGeom prst="rect">
            <a:avLst/>
          </a:prstGeom>
          <a:solidFill>
            <a:srgbClr val="FFF8F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37160" bIns="54864" rtlCol="0" anchor="ctr"/>
          <a:lstStyle/>
          <a:p>
            <a:r>
              <a:rPr>
                <a:solidFill>
                  <a:schemeClr val="tx1"/>
                </a:solidFill>
              </a:rPr>
              <a:t>🎯 课堂实操指引 ① 诊断教材 split() 拼接缺陷 ➔ ② 编写正确类型转换评优代码 ➔ ③ 运行右侧用例并将截图填入《实验任务书（上）》⏱️ 建议用时：8~10分钟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932688"/>
            <a:ext cx="73152" cy="42062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3.2.4 分支嵌套机制与多层决策</a:t>
            </a:r>
            <a:endParaRPr sz="25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572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420624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 fontScale="90000"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1">
                <a:solidFill>
                  <a:srgbClr val="282828"/>
                </a:solidFill>
                <a:latin typeface="微软雅黑"/>
                <a:ea typeface="微软雅黑"/>
              </a:rPr>
              <a:t>分支嵌套与“扁平胜于嵌套”</a:t>
            </a:r>
            <a:endParaRPr sz="16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endParaRPr sz="16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嵌套定义：</a:t>
            </a:r>
            <a:r>
              <a:rPr sz="1600" b="0">
                <a:solidFill>
                  <a:srgbClr val="C00000"/>
                </a:solidFill>
                <a:latin typeface="微软雅黑"/>
                <a:ea typeface="微软雅黑"/>
              </a:rPr>
              <a:t>在一个 if、elif 或 else 的从属语句块内部，再次完整定义另一套独立的 if 语句体系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典型应用场景：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 </a:t>
            </a:r>
            <a:r>
              <a:rPr lang="en-US" sz="1600" b="0">
                <a:solidFill>
                  <a:srgbClr val="282828"/>
                </a:solidFill>
                <a:latin typeface="微软雅黑"/>
                <a:ea typeface="微软雅黑"/>
              </a:rPr>
              <a:t> 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前置门禁准入：</a:t>
            </a:r>
            <a:r>
              <a:rPr sz="1600" b="0">
                <a:solidFill>
                  <a:srgbClr val="00B050"/>
                </a:solidFill>
                <a:latin typeface="微软雅黑"/>
                <a:ea typeface="微软雅黑"/>
              </a:rPr>
              <a:t>先判定资格（如是否已登录/账户未被冻结），再判定具体业务（如是否有余额扣费）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lang="en-US" sz="1600" b="0">
                <a:solidFill>
                  <a:srgbClr val="282828"/>
                </a:solidFill>
                <a:latin typeface="微软雅黑"/>
                <a:ea typeface="微软雅黑"/>
              </a:rPr>
              <a:t>  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细分二级属性：</a:t>
            </a:r>
            <a:r>
              <a:rPr sz="1600" b="0">
                <a:solidFill>
                  <a:srgbClr val="00B050"/>
                </a:solidFill>
                <a:latin typeface="微软雅黑"/>
                <a:ea typeface="微软雅黑"/>
              </a:rPr>
              <a:t>外层判断大类别，内层细分子类别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7030A0"/>
                </a:solidFill>
                <a:latin typeface="微软雅黑"/>
                <a:ea typeface="微软雅黑"/>
              </a:rPr>
              <a:t>The Zen of Python 软件工程戒律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：</a:t>
            </a:r>
            <a:r>
              <a:rPr sz="1600" b="0">
                <a:solidFill>
                  <a:srgbClr val="00B050"/>
                </a:solidFill>
                <a:latin typeface="微软雅黑"/>
                <a:ea typeface="微软雅黑"/>
              </a:rPr>
              <a:t>“Flat is better than nested”（扁平胜于嵌套）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嵌套层级控制：</a:t>
            </a:r>
            <a:r>
              <a:rPr sz="1600" b="0">
                <a:solidFill>
                  <a:srgbClr val="C00000"/>
                </a:solidFill>
                <a:latin typeface="微软雅黑"/>
                <a:ea typeface="微软雅黑"/>
              </a:rPr>
              <a:t>嵌套深度严禁超过 3 层！层级过深会导致代码向右漂移，极难阅读维护；应优先使用逻辑运算符 `and` 或 `elif` 阶梯重构扁平化</a:t>
            </a: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9824" y="1014984"/>
            <a:ext cx="601675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eprint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5943600" cy="48463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例题 7：分段函数求值（1/2）：数学区间解析与流程图</a:t>
            </a:r>
            <a:endParaRPr sz="19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41148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374904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50" b="1">
                <a:solidFill>
                  <a:srgbClr val="282828"/>
                </a:solidFill>
                <a:latin typeface="微软雅黑"/>
                <a:ea typeface="微软雅黑"/>
              </a:rPr>
              <a:t>数学分段函数与算法设计</a:t>
            </a:r>
            <a:endParaRPr sz="145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50" b="0">
                <a:solidFill>
                  <a:srgbClr val="282828"/>
                </a:solidFill>
                <a:latin typeface="微软雅黑"/>
                <a:ea typeface="微软雅黑"/>
              </a:rPr>
              <a:t>• 【题目需求】: 计算三段连续分段函数 f(x) 的值：</a:t>
            </a:r>
            <a:endParaRPr sz="145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50" b="0">
                <a:solidFill>
                  <a:srgbClr val="282828"/>
                </a:solidFill>
                <a:latin typeface="微软雅黑"/>
                <a:ea typeface="微软雅黑"/>
              </a:rPr>
              <a:t>• • 当 x &lt;= 1 时: f(x) = x</a:t>
            </a:r>
            <a:endParaRPr sz="145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50" b="0">
                <a:solidFill>
                  <a:srgbClr val="282828"/>
                </a:solidFill>
                <a:latin typeface="微软雅黑"/>
                <a:ea typeface="微软雅黑"/>
              </a:rPr>
              <a:t>• • 当 1 &lt; x &lt; 10 时: f(x) = 2x - 1</a:t>
            </a:r>
            <a:endParaRPr sz="145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50" b="0">
                <a:solidFill>
                  <a:srgbClr val="282828"/>
                </a:solidFill>
                <a:latin typeface="微软雅黑"/>
                <a:ea typeface="微软雅黑"/>
              </a:rPr>
              <a:t>• • 当 x &gt;= 10 时: f(x) = 3x - 11</a:t>
            </a:r>
            <a:endParaRPr sz="145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8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50" b="0">
                <a:solidFill>
                  <a:srgbClr val="282828"/>
                </a:solidFill>
                <a:latin typeface="微软雅黑"/>
                <a:ea typeface="微软雅黑"/>
              </a:rPr>
              <a:t>• 【对比设计】: 教材分别通过嵌套分支（外层判断 x &lt; 10，内层细分 x &lt;= 1）与 elif 扁平阶梯两种方式实现，引导学生领会代码扁平化重构的优势。</a:t>
            </a:r>
            <a:endParaRPr sz="145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861060"/>
            <a:ext cx="3762375" cy="546798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例题 7：分段函数求值（2/2）：代码实现与运行验证</a:t>
            </a:r>
            <a:endParaRPr sz="19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566928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t># 例题 7 分段函数求值 (嵌套版 vs 扁平版)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x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0070C0"/>
                </a:solidFill>
                <a:latin typeface="Consolas"/>
                <a:ea typeface="Consolas"/>
              </a:rPr>
              <a:t>float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150">
                <a:solidFill>
                  <a:srgbClr val="0070C0"/>
                </a:solidFill>
                <a:latin typeface="Consolas"/>
                <a:ea typeface="Consolas"/>
              </a:rPr>
              <a:t>input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请输入 x 的值: 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latin typeface="Consolas"/>
                <a:ea typeface="Consolas"/>
              </a:rPr>
              <a:t> </a:t>
            </a:r>
            <a:endParaRPr sz="1150"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解法 A: 嵌套分支结构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b="1">
                <a:solidFill>
                  <a:srgbClr val="B70F17"/>
                </a:solidFill>
                <a:latin typeface="Consolas"/>
                <a:ea typeface="Consolas"/>
              </a:rPr>
              <a:t>if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x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&lt;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B04A00"/>
                </a:solidFill>
                <a:latin typeface="Consolas"/>
                <a:ea typeface="Consolas"/>
              </a:rPr>
              <a:t>10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: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   </a:t>
            </a:r>
            <a:r>
              <a:rPr sz="1150" b="1">
                <a:solidFill>
                  <a:srgbClr val="B70F17"/>
                </a:solidFill>
                <a:latin typeface="Consolas"/>
                <a:ea typeface="Consolas"/>
              </a:rPr>
              <a:t>if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x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&lt;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B04A00"/>
                </a:solidFill>
                <a:latin typeface="Consolas"/>
                <a:ea typeface="Consolas"/>
              </a:rPr>
              <a:t>1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: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      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y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x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   </a:t>
            </a:r>
            <a:r>
              <a:rPr sz="1150" b="1">
                <a:solidFill>
                  <a:srgbClr val="B70F17"/>
                </a:solidFill>
                <a:latin typeface="Consolas"/>
                <a:ea typeface="Consolas"/>
              </a:rPr>
              <a:t>else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: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      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y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B04A00"/>
                </a:solidFill>
                <a:latin typeface="Consolas"/>
                <a:ea typeface="Consolas"/>
              </a:rPr>
              <a:t>2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*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x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-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B04A00"/>
                </a:solidFill>
                <a:latin typeface="Consolas"/>
                <a:ea typeface="Consolas"/>
              </a:rPr>
              <a:t>1</a:t>
            </a:r>
            <a:endParaRPr sz="1150">
              <a:solidFill>
                <a:srgbClr val="B04A00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b="1">
                <a:solidFill>
                  <a:srgbClr val="B70F17"/>
                </a:solidFill>
                <a:latin typeface="Consolas"/>
                <a:ea typeface="Consolas"/>
              </a:rPr>
              <a:t>else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: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  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y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B04A00"/>
                </a:solidFill>
                <a:latin typeface="Consolas"/>
                <a:ea typeface="Consolas"/>
              </a:rPr>
              <a:t>3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*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x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-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150">
                <a:solidFill>
                  <a:srgbClr val="B04A00"/>
                </a:solidFill>
                <a:latin typeface="Consolas"/>
                <a:ea typeface="Consolas"/>
              </a:rPr>
              <a:t>11</a:t>
            </a:r>
            <a:endParaRPr sz="1150">
              <a:solidFill>
                <a:srgbClr val="B04A00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latin typeface="Consolas"/>
                <a:ea typeface="Consolas"/>
              </a:rPr>
              <a:t> </a:t>
            </a:r>
            <a:endParaRPr sz="1150"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解法 B: elif 扁平化重构 (推荐)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if x &lt;= 1: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    y = x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elif x &lt; 10: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    y = 2 * x - 1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else: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 i="1">
                <a:solidFill>
                  <a:srgbClr val="7F7F7F"/>
                </a:solidFill>
                <a:latin typeface="Consolas"/>
                <a:ea typeface="Consolas"/>
              </a:rPr>
              <a:t>#     y = 3 * x - 11</a:t>
            </a:r>
            <a:endParaRPr sz="115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latin typeface="Consolas"/>
                <a:ea typeface="Consolas"/>
              </a:rPr>
              <a:t> </a:t>
            </a:r>
            <a:endParaRPr sz="1150"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00">
                <a:latin typeface="Consolas"/>
                <a:ea typeface="Consolas"/>
              </a:defRPr>
            </a:pPr>
            <a:r>
              <a:rPr sz="1150">
                <a:solidFill>
                  <a:srgbClr val="0070C0"/>
                </a:solidFill>
                <a:latin typeface="Consolas"/>
                <a:ea typeface="Consolas"/>
              </a:rPr>
              <a:t>print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f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f(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{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x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: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g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}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) = 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{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y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: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g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}</a:t>
            </a:r>
            <a:r>
              <a:rPr sz="115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15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150">
              <a:solidFill>
                <a:srgbClr val="282828"/>
              </a:solidFill>
              <a:latin typeface="Consolas"/>
              <a:ea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37960" y="1508760"/>
            <a:ext cx="4937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508760"/>
            <a:ext cx="49377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600" b="1">
                <a:solidFill>
                  <a:srgbClr val="B70F17"/>
                </a:solidFill>
                <a:latin typeface="微软雅黑"/>
                <a:ea typeface="微软雅黑"/>
              </a:defRPr>
            </a:pPr>
            <a:r>
              <a:t>【控制台运行结果示例】</a:t>
            </a:r>
            <a:endParaRPr sz="1600" b="1"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663440" cy="173736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450">
                <a:latin typeface="微软雅黑"/>
                <a:ea typeface="微软雅黑"/>
              </a:defRPr>
            </a:pPr>
            <a:endParaRPr sz="1150">
              <a:solidFill>
                <a:srgbClr val="777777"/>
              </a:solidFill>
              <a:latin typeface="微软雅黑"/>
              <a:ea typeface="微软雅黑"/>
            </a:endParaRPr>
          </a:p>
          <a:p>
            <a:r>
              <a:rPr sz="1200">
                <a:solidFill>
                  <a:srgbClr val="212529"/>
                </a:solidFill>
                <a:latin typeface="微软雅黑"/>
              </a:rPr>
              <a:t>• 【用例 1（第1区间）】输入: 0.5  ➔  输出: f(0.5) = 0.5
  说明: x &lt; 1，直接取自变量原值</a:t>
            </a:r>
            <a:endParaRPr sz="1200">
              <a:solidFill>
                <a:srgbClr val="212529"/>
              </a:solidFill>
              <a:latin typeface="微软雅黑"/>
            </a:endParaRPr>
          </a:p>
          <a:p>
            <a:r>
              <a:rPr sz="1200">
                <a:solidFill>
                  <a:srgbClr val="212529"/>
                </a:solidFill>
                <a:latin typeface="微软雅黑"/>
              </a:rPr>
              <a:t>• 【用例 2（断点 1 临界）】输入: 1.0  ➔  输出: f(1.0) = 1.0
  说明: 1 &lt;= x &lt; 10，2*1 - 1 = 1.0</a:t>
            </a:r>
            <a:endParaRPr sz="1200">
              <a:solidFill>
                <a:srgbClr val="212529"/>
              </a:solidFill>
              <a:latin typeface="微软雅黑"/>
            </a:endParaRPr>
          </a:p>
          <a:p>
            <a:r>
              <a:rPr sz="1200">
                <a:solidFill>
                  <a:srgbClr val="212529"/>
                </a:solidFill>
                <a:latin typeface="微软雅黑"/>
              </a:rPr>
              <a:t>• 【用例 3（断点 2 临界）】输入: 10.0 ➔ 输出: f(10.0) = 19.0
  说明: x &gt;= 10，3*10 - 11 = 19.0</a:t>
            </a:r>
            <a:endParaRPr sz="120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37960" y="3822191"/>
            <a:ext cx="4937760" cy="2075688"/>
          </a:xfrm>
          <a:prstGeom prst="rect">
            <a:avLst/>
          </a:prstGeom>
          <a:solidFill>
            <a:srgbClr val="FFF5F5"/>
          </a:solidFill>
          <a:ln w="12700">
            <a:solidFill>
              <a:srgbClr val="E27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3822191"/>
            <a:ext cx="4937760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600" b="1">
                <a:solidFill>
                  <a:srgbClr val="B70F17"/>
                </a:solidFill>
                <a:latin typeface="微软雅黑"/>
                <a:ea typeface="微软雅黑"/>
              </a:defRPr>
            </a:pPr>
            <a:r>
              <a:rPr sz="1600" b="1">
                <a:latin typeface="微软雅黑"/>
                <a:ea typeface="微软雅黑"/>
              </a:rPr>
              <a:t>⚠️ 易错提醒 / 避坑指南</a:t>
            </a:r>
            <a:endParaRPr sz="1600" b="1"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4206240"/>
            <a:ext cx="4663440" cy="164592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• 断点开闭性验证：分段函数断点（x=1 与 x=10）极易出现 `&lt;` 与 `&lt;=` 的混淆，导致临界值归属错误！</a:t>
            </a:r>
            <a:endParaRPr sz="115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• 格式化修饰符 `:g`：使用 `f"{x:g}"` 可以自动消除浮点数末尾无意义的 0（如 `1.0` 输出为 `1`），更加贴合数学规范。</a:t>
            </a:r>
            <a:endParaRPr sz="115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45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150">
                <a:solidFill>
                  <a:srgbClr val="282828"/>
                </a:solidFill>
                <a:latin typeface="微软雅黑"/>
                <a:ea typeface="微软雅黑"/>
              </a:rPr>
              <a:t>• 嵌套缩进核对：嵌套 if 的内部缩进增加 4 空格，务必保证其 else 与内层 if 严格对齐。</a:t>
            </a:r>
            <a:endParaRPr sz="115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37160" bIns="54864" rtlCol="0" anchor="ctr"/>
          <a:lstStyle/>
          <a:p>
            <a:pPr algn="ctr"/>
            <a:r>
              <a:rPr sz="1400" b="1">
                <a:solidFill>
                  <a:srgbClr val="C70E1D"/>
                </a:solidFill>
                <a:latin typeface="微软雅黑"/>
              </a:rPr>
              <a:t>【题目要求】 </a:t>
            </a:r>
            <a:r>
              <a:rPr sz="1200" b="0">
                <a:solidFill>
                  <a:srgbClr val="212529"/>
                </a:solidFill>
                <a:latin typeface="微软雅黑"/>
              </a:rPr>
              <a:t>计算分段函数 f(x)：当 x&lt;1 时 f(x)=x；当 1≤x&lt;10 时 f(x)=2x-1；当 x≥10 时 f(x)=3x-11。根据输入的 x 输出对应的 f(x)。</a:t>
            </a:r>
            <a:endParaRPr sz="1200" b="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960120"/>
            <a:ext cx="73152" cy="457200"/>
          </a:xfrm>
          <a:prstGeom prst="rect">
            <a:avLst/>
          </a:prstGeom>
          <a:solidFill>
            <a:srgbClr val="C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3.2 分支结构 · 课后拓展：作业 3.2【三角形判断与海伦公式】</a:t>
            </a:r>
            <a:endParaRPr sz="19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53035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937760" cy="1920240"/>
          </a:xfrm>
          <a:prstGeom prst="rect">
            <a:avLst/>
          </a:prstGeom>
          <a:noFill/>
        </p:spPr>
        <p:txBody>
          <a:bodyPr wrap="square" lIns="65000" tIns="35000" rIns="65000" bIns="35000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20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1">
                <a:solidFill>
                  <a:srgbClr val="282828"/>
                </a:solidFill>
                <a:latin typeface="微软雅黑"/>
                <a:ea typeface="微软雅黑"/>
              </a:rPr>
              <a:t>📋 业务需求与功能规范</a:t>
            </a:r>
            <a:endParaRPr sz="14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从控制台输入三条边长 a, b, c（正浮点数）。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首先判定这三条边长能否构成一个有效三角形：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• 必须满足任意两边之和大于第三边：`a + b &gt; c and a + c &gt; b and b + c &gt; a` 且 `a, b, c &gt; 0`。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若不能构成三角形，输出“不能构成三角形”；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若能构成三角形，计算并输出其周长 perimeter 与海伦公式面积 area。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72200" y="1389888"/>
            <a:ext cx="53035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63040"/>
            <a:ext cx="4937760" cy="192024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20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1">
                <a:solidFill>
                  <a:srgbClr val="282828"/>
                </a:solidFill>
                <a:latin typeface="微软雅黑"/>
                <a:ea typeface="微软雅黑"/>
              </a:rPr>
              <a:t>📐 流程图设计引导框</a:t>
            </a:r>
            <a:endParaRPr sz="16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半周长公式：`p = (a + b + c) / 2`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海伦面积公式：`area = math.sqrt(p * (p - a) * (p - b) * (p - c))`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流程图设计指引：前置边长正数校验 -&gt; 三边之和不等式判断 -&gt; 面积计算 -&gt; 结果输出。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3566160"/>
            <a:ext cx="5303520" cy="2194560"/>
          </a:xfrm>
          <a:prstGeom prst="rect">
            <a:avLst/>
          </a:prstGeom>
          <a:solidFill>
            <a:srgbClr val="F5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39312"/>
            <a:ext cx="5029200" cy="2029968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8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1">
                <a:solidFill>
                  <a:srgbClr val="C70E1D"/>
                </a:solidFill>
                <a:latin typeface="微软雅黑"/>
              </a:rPr>
              <a:t>🤖 OpenCode 辅助提示词参考（严禁索要代码）
</a:t>
            </a:r>
            <a:endParaRPr sz="14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r>
              <a:rPr sz="1400">
                <a:solidFill>
                  <a:srgbClr val="212529"/>
                </a:solidFill>
                <a:latin typeface="微软雅黑"/>
              </a:rPr>
              <a:t>• 【流程图生成 Prompt】: "请为‘三角形有效性判断与海伦公式面积计算’设计标准流程图，包含非正数拦截与三边定理判断，不要直接提供 Python 代码。"
• 【测试用例设计 Prompt】: "请为三角形判断程序提供 3 组测试用例，重点覆盖‘普通三角形’、‘两边之和等于第三边的临界退化情况’与‘非正数边长’。"</a:t>
            </a:r>
            <a:endParaRPr sz="140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72200" y="356616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3566160"/>
            <a:ext cx="530352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>
            <a:normAutofit/>
          </a:bodyPr>
          <a:lstStyle/>
          <a:p>
            <a:pPr algn="ctr">
              <a:defRPr sz="1550" b="1">
                <a:solidFill>
                  <a:srgbClr val="30343A"/>
                </a:solidFill>
                <a:latin typeface="微软雅黑"/>
                <a:ea typeface="微软雅黑"/>
              </a:defRPr>
            </a:pPr>
            <a:r>
              <a:t>【控制台测试用例示例】</a:t>
            </a:r>
            <a:endParaRPr sz="155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3977639"/>
            <a:ext cx="5029200" cy="169164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450" b="0">
                <a:latin typeface="微软雅黑"/>
                <a:ea typeface="微软雅黑"/>
              </a:defRPr>
            </a:pPr>
            <a:r>
              <a:rPr sz="1400" b="0">
                <a:solidFill>
                  <a:srgbClr val="0070C0"/>
                </a:solidFill>
                <a:latin typeface="微软雅黑"/>
                <a:ea typeface="微软雅黑"/>
              </a:rPr>
              <a:t>• [经典勾股] 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输入: 3 4 5 ➔ 输出: 周长: 12, 面积: 6.00
  </a:t>
            </a:r>
            <a:r>
              <a:rPr sz="1400" b="0">
                <a:solidFill>
                  <a:srgbClr val="777777"/>
                </a:solidFill>
                <a:latin typeface="微软雅黑"/>
                <a:ea typeface="微软雅黑"/>
              </a:rPr>
              <a:t>验证: 经典直角三角形，海伦公式面积准确验证</a:t>
            </a:r>
            <a:endParaRPr sz="1400" b="0">
              <a:solidFill>
                <a:srgbClr val="777777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450" b="0">
                <a:latin typeface="微软雅黑"/>
                <a:ea typeface="微软雅黑"/>
              </a:defRPr>
            </a:pPr>
            <a:r>
              <a:rPr sz="1400" b="0">
                <a:solidFill>
                  <a:srgbClr val="0070C0"/>
                </a:solidFill>
                <a:latin typeface="微软雅黑"/>
                <a:ea typeface="微软雅黑"/>
              </a:rPr>
              <a:t>• [退化线段] 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输入: 1 2 3 ➔ 输出: 不能构成三角形
  </a:t>
            </a:r>
            <a:r>
              <a:rPr sz="1400" b="0">
                <a:solidFill>
                  <a:srgbClr val="777777"/>
                </a:solidFill>
                <a:latin typeface="微软雅黑"/>
                <a:ea typeface="微软雅黑"/>
              </a:rPr>
              <a:t>验证: 1 + 2 = 3 等号边界，两边之和不大于第三边</a:t>
            </a:r>
            <a:endParaRPr sz="1400" b="0">
              <a:solidFill>
                <a:srgbClr val="777777"/>
              </a:solidFill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450" b="0">
                <a:latin typeface="微软雅黑"/>
                <a:ea typeface="微软雅黑"/>
              </a:defRPr>
            </a:pPr>
            <a:r>
              <a:rPr sz="1400" b="0">
                <a:solidFill>
                  <a:srgbClr val="0070C0"/>
                </a:solidFill>
                <a:latin typeface="微软雅黑"/>
                <a:ea typeface="微软雅黑"/>
              </a:rPr>
              <a:t>• [非法负边] </a:t>
            </a: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输入: 0 1 1 ➔ 输出: 不能构成三角形
  </a:t>
            </a:r>
            <a:r>
              <a:rPr sz="1400" b="0">
                <a:solidFill>
                  <a:srgbClr val="777777"/>
                </a:solidFill>
                <a:latin typeface="微软雅黑"/>
                <a:ea typeface="微软雅黑"/>
              </a:rPr>
              <a:t>验证: 边长必须为正数，前置非正数拦截测试</a:t>
            </a:r>
            <a:endParaRPr sz="1400" b="0">
              <a:solidFill>
                <a:srgbClr val="777777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5852160"/>
            <a:ext cx="1078992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lstStyle/>
          <a:p>
            <a:pPr algn="ctr">
              <a:defRPr sz="1450" b="1">
                <a:solidFill>
                  <a:srgbClr val="30343A"/>
                </a:solidFill>
                <a:latin typeface="微软雅黑"/>
                <a:ea typeface="微软雅黑"/>
              </a:defRPr>
            </a:pPr>
            <a:r>
              <a:rPr sz="1450" b="1">
                <a:solidFill>
                  <a:srgbClr val="30343A"/>
                </a:solidFill>
                <a:latin typeface="微软雅黑"/>
                <a:ea typeface="微软雅黑"/>
              </a:rPr>
              <a:t>⚠️ </a:t>
            </a:r>
            <a:r>
              <a:rPr lang="zh-CN" sz="1450" b="1">
                <a:solidFill>
                  <a:srgbClr val="30343A"/>
                </a:solidFill>
                <a:latin typeface="微软雅黑"/>
                <a:ea typeface="微软雅黑"/>
              </a:rPr>
              <a:t>提示</a:t>
            </a:r>
            <a:r>
              <a:rPr sz="1450" b="1">
                <a:solidFill>
                  <a:srgbClr val="30343A"/>
                </a:solidFill>
                <a:latin typeface="微软雅黑"/>
                <a:ea typeface="微软雅黑"/>
              </a:rPr>
              <a:t>：严格依据流程图纸在 OpenCode 本地终端编码并通过所有边界测试。</a:t>
            </a:r>
            <a:endParaRPr sz="1450" b="1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932688"/>
            <a:ext cx="10789920" cy="420624"/>
          </a:xfrm>
          <a:prstGeom prst="rect">
            <a:avLst/>
          </a:prstGeom>
          <a:solidFill>
            <a:srgbClr val="F0F9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37160" bIns="54864" rtlCol="0" anchor="ctr"/>
          <a:lstStyle/>
          <a:p>
            <a:pPr algn="ctr"/>
            <a:r>
              <a:rPr sz="1400" b="1">
                <a:solidFill>
                  <a:srgbClr val="2563EB"/>
                </a:solidFill>
                <a:latin typeface="微软雅黑"/>
              </a:rPr>
              <a:t>🎯 课后拓展指引 </a:t>
            </a:r>
            <a:r>
              <a:rPr sz="1300" b="0">
                <a:solidFill>
                  <a:srgbClr val="212529"/>
                </a:solidFill>
                <a:latin typeface="微软雅黑"/>
              </a:rPr>
              <a:t>① 判定任意两边之和大于第三边 ➔ ② 计算海伦公式面积 ➔ ③ 验证退化线段等边界 ⏱️ 供学有余力同学课后探索</a:t>
            </a:r>
            <a:endParaRPr sz="1300" b="0">
              <a:solidFill>
                <a:srgbClr val="212529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932688"/>
            <a:ext cx="73152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第一课时知识总结：分支结构决策全景脑图</a:t>
            </a:r>
            <a:endParaRPr sz="22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1042416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1">
                <a:solidFill>
                  <a:srgbClr val="282828"/>
                </a:solidFill>
                <a:latin typeface="微软雅黑"/>
                <a:ea typeface="微软雅黑"/>
              </a:rPr>
              <a:t>第一课时核心知识体系</a:t>
            </a:r>
            <a:endParaRPr sz="18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微软雅黑"/>
                <a:ea typeface="微软雅黑"/>
              </a:rPr>
              <a:t>• 1. 程序的组织结构</a:t>
            </a:r>
            <a:r>
              <a:rPr lang="zh-CN" sz="1800" b="0">
                <a:solidFill>
                  <a:srgbClr val="282828"/>
                </a:solidFill>
                <a:latin typeface="微软雅黑"/>
                <a:ea typeface="微软雅黑"/>
              </a:rPr>
              <a:t>与流程图</a:t>
            </a:r>
            <a:r>
              <a:rPr sz="1800" b="0">
                <a:solidFill>
                  <a:srgbClr val="282828"/>
                </a:solidFill>
                <a:latin typeface="微软雅黑"/>
                <a:ea typeface="微软雅黑"/>
              </a:rPr>
              <a:t>（3.1）：</a:t>
            </a:r>
            <a:endParaRPr sz="18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lang="en-US" sz="1800" b="0">
                <a:solidFill>
                  <a:srgbClr val="282828"/>
                </a:solidFill>
                <a:latin typeface="微软雅黑"/>
                <a:ea typeface="微软雅黑"/>
              </a:rPr>
              <a:t>  </a:t>
            </a:r>
            <a:r>
              <a:rPr sz="1800" b="0">
                <a:solidFill>
                  <a:srgbClr val="282828"/>
                </a:solidFill>
                <a:latin typeface="微软雅黑"/>
                <a:ea typeface="微软雅黑"/>
              </a:rPr>
              <a:t>   • 顺序结构、分支结构、循环结构三大基石；GB/T 1526-1989 五大图元规范（起止、输入输出、处理、判断、连接点）。</a:t>
            </a:r>
            <a:endParaRPr sz="18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微软雅黑"/>
                <a:ea typeface="微软雅黑"/>
              </a:rPr>
              <a:t>• 2. 分支控制体系（3.2）：</a:t>
            </a:r>
            <a:endParaRPr sz="18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lang="en-US" sz="1800" b="0">
                <a:solidFill>
                  <a:srgbClr val="282828"/>
                </a:solidFill>
                <a:latin typeface="微软雅黑"/>
                <a:ea typeface="微软雅黑"/>
              </a:rPr>
              <a:t> </a:t>
            </a:r>
            <a:r>
              <a:rPr sz="1800" b="0">
                <a:solidFill>
                  <a:srgbClr val="282828"/>
                </a:solidFill>
                <a:latin typeface="微软雅黑"/>
                <a:ea typeface="微软雅黑"/>
              </a:rPr>
              <a:t>    • 单分支 `if`：4 空格缩进与冒号语法、串联短路求值 (and)。</a:t>
            </a:r>
            <a:endParaRPr sz="18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lang="en-US" sz="1800" b="0">
                <a:solidFill>
                  <a:srgbClr val="282828"/>
                </a:solidFill>
                <a:latin typeface="微软雅黑"/>
                <a:ea typeface="微软雅黑"/>
              </a:rPr>
              <a:t> </a:t>
            </a:r>
            <a:r>
              <a:rPr sz="1800" b="0">
                <a:solidFill>
                  <a:srgbClr val="282828"/>
                </a:solidFill>
                <a:latin typeface="微软雅黑"/>
                <a:ea typeface="微软雅黑"/>
              </a:rPr>
              <a:t>    • 双分支 `if-else`：互斥二选一、三元紧凑表达式 `x if C else y`、并联短路求值 (or)。</a:t>
            </a:r>
            <a:endParaRPr sz="18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lang="en-US" sz="1800" b="0">
                <a:solidFill>
                  <a:srgbClr val="282828"/>
                </a:solidFill>
                <a:latin typeface="微软雅黑"/>
                <a:ea typeface="微软雅黑"/>
              </a:rPr>
              <a:t> </a:t>
            </a:r>
            <a:r>
              <a:rPr sz="1800" b="0">
                <a:solidFill>
                  <a:srgbClr val="282828"/>
                </a:solidFill>
                <a:latin typeface="微软雅黑"/>
                <a:ea typeface="微软雅黑"/>
              </a:rPr>
              <a:t>    • 多分支 `if-elif-else`：自上而下阶梯匹配、排他性下行、区间覆盖保底。</a:t>
            </a:r>
            <a:endParaRPr sz="18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lang="en-US" sz="1800" b="0">
                <a:solidFill>
                  <a:srgbClr val="282828"/>
                </a:solidFill>
                <a:latin typeface="微软雅黑"/>
                <a:ea typeface="微软雅黑"/>
              </a:rPr>
              <a:t>  </a:t>
            </a:r>
            <a:r>
              <a:rPr sz="1800" b="0">
                <a:solidFill>
                  <a:srgbClr val="282828"/>
                </a:solidFill>
                <a:latin typeface="微软雅黑"/>
                <a:ea typeface="微软雅黑"/>
              </a:rPr>
              <a:t>   • 分支嵌套：条件准入层级、控制深度不超过 3 层、“扁平胜于嵌套”工程准则。</a:t>
            </a:r>
            <a:endParaRPr sz="18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微软雅黑"/>
                <a:ea typeface="微软雅黑"/>
              </a:rPr>
              <a:t>• 3. 避坑：显式类型转换防御（作业 3.3 字符串拼接Bug）</a:t>
            </a:r>
            <a:endParaRPr sz="18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第一课时出口测验（Exit Ticket 1）：缩进语法与条件判定</a:t>
            </a:r>
            <a:endParaRPr sz="19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548640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61288"/>
            <a:ext cx="5212080" cy="270662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1650">
                <a:latin typeface="Consolas"/>
                <a:ea typeface="Consolas"/>
              </a:defRPr>
            </a:pPr>
            <a:r>
              <a:rPr sz="1600" i="1">
                <a:solidFill>
                  <a:srgbClr val="7F7F7F"/>
                </a:solidFill>
                <a:latin typeface="Consolas"/>
                <a:ea typeface="Consolas"/>
              </a:rPr>
              <a:t># 代码阅读与执行预测</a:t>
            </a:r>
            <a:endParaRPr sz="1600" i="1">
              <a:solidFill>
                <a:srgbClr val="7F7F7F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score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B04A00"/>
                </a:solidFill>
                <a:latin typeface="Consolas"/>
                <a:ea typeface="Consolas"/>
              </a:rPr>
              <a:t>59</a:t>
            </a:r>
            <a:endParaRPr sz="1600">
              <a:solidFill>
                <a:srgbClr val="B04A00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>
                <a:latin typeface="Consolas"/>
                <a:ea typeface="Consolas"/>
              </a:defRPr>
            </a:pPr>
            <a:r>
              <a:rPr sz="1600" b="1">
                <a:solidFill>
                  <a:srgbClr val="B70F17"/>
                </a:solidFill>
                <a:latin typeface="Consolas"/>
                <a:ea typeface="Consolas"/>
              </a:rPr>
              <a:t>if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score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&gt;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=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</a:t>
            </a:r>
            <a:r>
              <a:rPr sz="1600">
                <a:solidFill>
                  <a:srgbClr val="B04A00"/>
                </a:solidFill>
                <a:latin typeface="Consolas"/>
                <a:ea typeface="Consolas"/>
              </a:rPr>
              <a:t>60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: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  </a:t>
            </a:r>
            <a:r>
              <a:rPr sz="1600">
                <a:solidFill>
                  <a:srgbClr val="0070C0"/>
                </a:solidFill>
                <a:latin typeface="Consolas"/>
                <a:ea typeface="Consolas"/>
              </a:rPr>
              <a:t>print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考试合格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>
                <a:latin typeface="Consolas"/>
                <a:ea typeface="Consolas"/>
              </a:defRPr>
            </a:pP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    </a:t>
            </a:r>
            <a:r>
              <a:rPr sz="1600">
                <a:solidFill>
                  <a:srgbClr val="0070C0"/>
                </a:solidFill>
                <a:latin typeface="Consolas"/>
                <a:ea typeface="Consolas"/>
              </a:rPr>
              <a:t>print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恭喜通过！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650">
                <a:latin typeface="Consolas"/>
                <a:ea typeface="Consolas"/>
              </a:defRPr>
            </a:pPr>
            <a:r>
              <a:rPr sz="1600">
                <a:solidFill>
                  <a:srgbClr val="0070C0"/>
                </a:solidFill>
                <a:latin typeface="Consolas"/>
                <a:ea typeface="Consolas"/>
              </a:rPr>
              <a:t>print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(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教务处成绩录入完成</a:t>
            </a:r>
            <a:r>
              <a:rPr sz="1600">
                <a:solidFill>
                  <a:srgbClr val="2E7D32"/>
                </a:solidFill>
                <a:latin typeface="Consolas"/>
                <a:ea typeface="Consolas"/>
              </a:rPr>
              <a:t>"</a:t>
            </a:r>
            <a:r>
              <a:rPr sz="1600">
                <a:solidFill>
                  <a:srgbClr val="282828"/>
                </a:solidFill>
                <a:latin typeface="Consolas"/>
                <a:ea typeface="Consolas"/>
              </a:rPr>
              <a:t>)</a:t>
            </a:r>
            <a:endParaRPr sz="1600">
              <a:solidFill>
                <a:srgbClr val="282828"/>
              </a:solidFill>
              <a:latin typeface="Consolas"/>
              <a:ea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0" y="1051560"/>
            <a:ext cx="5074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709160" cy="265176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1">
                <a:solidFill>
                  <a:srgbClr val="282828"/>
                </a:solidFill>
                <a:latin typeface="微软雅黑"/>
                <a:ea typeface="微软雅黑"/>
              </a:rPr>
              <a:t>思考</a:t>
            </a:r>
            <a:endParaRPr sz="14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【现场作答问题】: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当输入分数为 score = 59 时，控制台将输出几行内容？具体内容是什么？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【选项研判】: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A. 输出 0 行（全部跳过）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B. 仅输出 1 行："教务处成绩录入完成"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C. 输出 3 行全部内容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00" b="0">
                <a:solidFill>
                  <a:srgbClr val="282828"/>
                </a:solidFill>
                <a:latin typeface="微软雅黑"/>
                <a:ea typeface="微软雅黑"/>
              </a:rPr>
              <a:t>• 【考察考点】: 缩进决定代码块归属。前两句属于 if 块，第三句属于顺序主干。</a:t>
            </a:r>
            <a:endParaRPr sz="14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4160520"/>
            <a:ext cx="10789920" cy="1645920"/>
          </a:xfrm>
          <a:prstGeom prst="rect">
            <a:avLst/>
          </a:prstGeom>
          <a:solidFill>
            <a:srgbClr val="F0F9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  <a:defRPr sz="1600" b="1">
                <a:solidFill>
                  <a:srgbClr val="0070C0"/>
                </a:solidFill>
                <a:latin typeface="微软雅黑"/>
                <a:ea typeface="微软雅黑"/>
              </a:defRPr>
            </a:pPr>
            <a:r>
              <a:rPr sz="1450" b="1">
                <a:latin typeface="微软雅黑"/>
                <a:ea typeface="微软雅黑"/>
              </a:rPr>
              <a:t>💡 参考答案与解析: 正确选项为 B。</a:t>
            </a:r>
            <a:endParaRPr sz="1450" b="1"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5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450" b="0">
                <a:latin typeface="微软雅黑"/>
                <a:ea typeface="微软雅黑"/>
              </a:rPr>
              <a:t>解析：因为 59 &gt;= 60 为假 (False)，所以缩进的第 4、5 行代码块被完全跳过；第 6 行由于没有缩进，属于顺序主干，无条件正常执行。</a:t>
            </a:r>
            <a:endParaRPr sz="145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第一课时出口测验（Exit Ticket 2）：闰年 1900 逻辑与短路测试</a:t>
            </a:r>
            <a:endParaRPr sz="17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789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10424160" cy="265176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1">
                <a:solidFill>
                  <a:srgbClr val="282828"/>
                </a:solidFill>
                <a:latin typeface="微软雅黑"/>
                <a:ea typeface="微软雅黑"/>
              </a:rPr>
              <a:t>逻辑表达式深度辨析</a:t>
            </a:r>
            <a:endParaRPr sz="16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【问题背景】: 在作业 3.1 闰年判定中，某同学写了如下简写条件：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  `if year % 4 == 0:`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【现场辩答】: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1. 对于哪一个具有里程碑意义的公历年份，这个简写条件会发生致命误判？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2. 为什么该年份能被 4 整除，却绝不能被判为闰年？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600" b="0">
                <a:solidFill>
                  <a:srgbClr val="282828"/>
                </a:solidFill>
                <a:latin typeface="微软雅黑"/>
                <a:ea typeface="微软雅黑"/>
              </a:rPr>
              <a:t>• 3. 在复合条件 `year % 400 == 0 or (year % 4 == 0 and year % 100 != 0)` 中，带入 2000 年时，右侧括号内的表达式是否会被执行？为什么？</a:t>
            </a:r>
            <a:endParaRPr sz="1600" b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4160520"/>
            <a:ext cx="10789920" cy="1645920"/>
          </a:xfrm>
          <a:prstGeom prst="rect">
            <a:avLst/>
          </a:prstGeom>
          <a:solidFill>
            <a:srgbClr val="F0F9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5000" tIns="35000" rIns="65000" bIns="35000" rtlCol="0" anchor="ctr">
            <a:norm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  <a:defRPr sz="1600" b="1">
                <a:solidFill>
                  <a:srgbClr val="0070C0"/>
                </a:solidFill>
                <a:latin typeface="微软雅黑"/>
                <a:ea typeface="微软雅黑"/>
              </a:defRPr>
            </a:pPr>
            <a:r>
              <a:rPr sz="1250" b="1">
                <a:latin typeface="微软雅黑"/>
                <a:ea typeface="微软雅黑"/>
              </a:rPr>
              <a:t>💡 参考答案与解析:</a:t>
            </a:r>
            <a:endParaRPr sz="1250" b="1"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5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250" b="0">
                <a:latin typeface="微软雅黑"/>
                <a:ea typeface="微软雅黑"/>
              </a:rPr>
              <a:t>1. 1900 年会被误判为闰年（实际为平年）。</a:t>
            </a:r>
            <a:br>
              <a:rPr sz="1250"/>
            </a:br>
            <a:r>
              <a:rPr sz="1250" b="0">
                <a:latin typeface="微软雅黑"/>
                <a:ea typeface="微软雅黑"/>
              </a:rPr>
              <a:t>2. 依据公历历法，整百年必须能被 400 整除才是世纪闰年；1900 能被 100 整除但不能被 400 整除，故为平年。</a:t>
            </a:r>
            <a:br>
              <a:rPr sz="1250"/>
            </a:br>
            <a:r>
              <a:rPr sz="1250" b="0">
                <a:latin typeface="微软雅黑"/>
                <a:ea typeface="微软雅黑"/>
              </a:rPr>
              <a:t>3. 不会执行！因为 2000 % 400 == 0 为真，触发 or 并联短路求值效应，右侧被直接跳过。</a:t>
            </a:r>
            <a:endParaRPr sz="125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defRPr sz="2000" b="1">
                <a:solidFill>
                  <a:srgbClr val="C70E1D"/>
                </a:solidFill>
                <a:latin typeface="微软雅黑"/>
                <a:ea typeface="微软雅黑"/>
              </a:defRPr>
            </a:pPr>
            <a:r>
              <a:t>第一课时出口测验（Exit Ticket 3）：字符串拼接与隐式类型转换</a:t>
            </a:r>
            <a:endParaRPr sz="1700" b="1">
              <a:solidFill>
                <a:srgbClr val="C70E1D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789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10424160" cy="265176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30343A"/>
                </a:solidFill>
                <a:latin typeface="微软雅黑"/>
                <a:ea typeface="微软雅黑"/>
              </a:rPr>
              <a:t>代码漏洞攻击测试</a:t>
            </a:r>
            <a:endParaRPr sz="2000" b="1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2000" b="0">
                <a:solidFill>
                  <a:srgbClr val="30343A"/>
                </a:solidFill>
                <a:latin typeface="微软雅黑"/>
                <a:ea typeface="微软雅黑"/>
              </a:rPr>
              <a:t>• 比较 int("95" + "95") 与 int("95") + int("95")。</a:t>
            </a:r>
            <a:endParaRPr sz="2000" b="0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2000" b="0">
                <a:solidFill>
                  <a:srgbClr val="30343A"/>
                </a:solidFill>
                <a:latin typeface="微软雅黑"/>
                <a:ea typeface="微软雅黑"/>
              </a:rPr>
              <a:t>• 两个表达式的中间结果各是什么？</a:t>
            </a:r>
            <a:endParaRPr sz="2000" b="0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2000" b="0">
                <a:solidFill>
                  <a:srgbClr val="30343A"/>
                </a:solidFill>
                <a:latin typeface="微软雅黑"/>
                <a:ea typeface="微软雅黑"/>
              </a:rPr>
              <a:t>• 将它们放入四科总分条件后，单科条件是否还会改变最终结果？</a:t>
            </a:r>
            <a:endParaRPr sz="2000" b="0">
              <a:solidFill>
                <a:srgbClr val="30343A"/>
              </a:solidFill>
              <a:latin typeface="微软雅黑"/>
              <a:ea typeface="微软雅黑"/>
            </a:endParaRPr>
          </a:p>
          <a:p>
            <a:pPr>
              <a:lnSpc>
                <a:spcPct val="11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2000" b="0">
                <a:solidFill>
                  <a:srgbClr val="30343A"/>
                </a:solidFill>
                <a:latin typeface="微软雅黑"/>
                <a:ea typeface="微软雅黑"/>
              </a:rPr>
              <a:t>• 在实验报告中用 90 90 90 90 构造对抗用例，记录完整判定路径。</a:t>
            </a:r>
            <a:endParaRPr sz="2000" b="0">
              <a:solidFill>
                <a:srgbClr val="30343A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4160520"/>
            <a:ext cx="10789920" cy="1645920"/>
          </a:xfrm>
          <a:prstGeom prst="rect">
            <a:avLst/>
          </a:prstGeom>
          <a:solidFill>
            <a:srgbClr val="F0F9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5000" tIns="35000" rIns="65000" bIns="35000" rtlCol="0" anchor="ctr">
            <a:norm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  <a:defRPr sz="1600" b="1">
                <a:solidFill>
                  <a:srgbClr val="0070C0"/>
                </a:solidFill>
                <a:latin typeface="微软雅黑"/>
                <a:ea typeface="微软雅黑"/>
              </a:defRPr>
            </a:pPr>
            <a:r>
              <a:rPr sz="1150" b="1">
                <a:latin typeface="微软雅黑"/>
                <a:ea typeface="微软雅黑"/>
              </a:rPr>
              <a:t>💡 参考答案与解析:</a:t>
            </a:r>
            <a:endParaRPr sz="1150" b="1">
              <a:latin typeface="微软雅黑"/>
              <a:ea typeface="微软雅黑"/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150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150" b="0">
                <a:latin typeface="微软雅黑"/>
                <a:ea typeface="微软雅黑"/>
              </a:rPr>
              <a:t>1. 表达式 A 结果为 True！"95" + "95" 字符串拼接为 "9595"，int("9595") = 9595 &gt;= 380 显然成立。</a:t>
            </a:r>
            <a:br>
              <a:rPr sz="1150"/>
            </a:br>
            <a:r>
              <a:rPr sz="1150" b="0">
                <a:latin typeface="微软雅黑"/>
                <a:ea typeface="微软雅黑"/>
              </a:rPr>
              <a:t>2. 表达式 B 结果为 False！分别转为整数 95 + 95 = 190，190 &gt;= 380 为假。</a:t>
            </a:r>
            <a:br>
              <a:rPr sz="1150"/>
            </a:br>
            <a:r>
              <a:rPr sz="1150" b="0">
                <a:latin typeface="微软雅黑"/>
                <a:ea typeface="微软雅黑"/>
              </a:rPr>
              <a:t>3. 该 Bug 说明字符串与数值加法存在质的区别，未显式转换类型会导致逻辑完全荒腔走板。</a:t>
            </a:r>
            <a:endParaRPr sz="1150" b="0">
              <a:latin typeface="微软雅黑"/>
              <a:ea typeface="微软雅黑"/>
            </a:endParaRPr>
          </a:p>
        </p:txBody>
      </p:sp>
    </p:spTree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9080"/>
            <a:ext cx="299720" cy="646430"/>
          </a:xfrm>
          <a:prstGeom prst="rect">
            <a:avLst/>
          </a:prstGeom>
          <a:solidFill>
            <a:srgbClr val="C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56032"/>
            <a:ext cx="9601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C70E1D"/>
                </a:solidFill>
                <a:latin typeface="微软雅黑"/>
              </a:defRPr>
            </a:pPr>
            <a:r>
              <a:t>第一课时中场休息与第二课时前瞻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10424160" cy="4572000"/>
          </a:xfrm>
          <a:prstGeom prst="rect">
            <a:avLst/>
          </a:prstGeom>
          <a:noFill/>
        </p:spPr>
        <p:txBody>
          <a:bodyPr wrap="square" lIns="65000" tIns="35000" rIns="65000" bIns="35000">
            <a:normAutofit/>
          </a:bodyPr>
          <a:lstStyle/>
          <a:p>
            <a:pPr>
              <a:lnSpc>
                <a:spcPct val="150000"/>
              </a:lnSpc>
              <a:spcAft>
                <a:spcPts val="100"/>
              </a:spcAft>
              <a:defRPr sz="2200" b="1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1">
                <a:solidFill>
                  <a:srgbClr val="282828"/>
                </a:solidFill>
                <a:latin typeface="微软雅黑"/>
                <a:ea typeface="微软雅黑"/>
              </a:rPr>
              <a:t>第二课时学习蓝图与前瞻 (Session 2 Preview)</a:t>
            </a:r>
            <a:endParaRPr sz="1800" b="1">
              <a:solidFill>
                <a:srgbClr val="282828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+mn-ea"/>
                <a:ea typeface="+mn-ea"/>
                <a:cs typeface="+mn-ea"/>
              </a:rPr>
              <a:t>• 3.3 循环结构：让计算机承担千百亿次高频机械重复劳动的终极武器。</a:t>
            </a:r>
            <a:endParaRPr sz="1800" b="0">
              <a:solidFill>
                <a:srgbClr val="282828"/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+mn-ea"/>
                <a:ea typeface="+mn-ea"/>
                <a:cs typeface="+mn-ea"/>
              </a:rPr>
              <a:t>• • 3.3.1 while 循环：基于循环不变式的控制四要素（初值、条件、循环体、步进）与死循环排查。</a:t>
            </a:r>
            <a:endParaRPr sz="1800" b="0">
              <a:solidFill>
                <a:srgbClr val="282828"/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+mn-ea"/>
                <a:ea typeface="+mn-ea"/>
                <a:cs typeface="+mn-ea"/>
              </a:rPr>
              <a:t>• • 3.3.2 for...in 与 range：序列迭代遍历机制与惰性求值 (Lazy Evaluation) 内存优势。</a:t>
            </a:r>
            <a:endParaRPr sz="1800" b="0">
              <a:solidFill>
                <a:srgbClr val="282828"/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+mn-ea"/>
                <a:ea typeface="+mn-ea"/>
                <a:cs typeface="+mn-ea"/>
              </a:rPr>
              <a:t>• • 3.3.3 循环嵌套：“外层转一轮，内层跑一圈”的双层网格遍历时序与九九乘法表。</a:t>
            </a:r>
            <a:endParaRPr sz="1800" b="0">
              <a:solidFill>
                <a:srgbClr val="282828"/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+mn-ea"/>
                <a:ea typeface="+mn-ea"/>
                <a:cs typeface="+mn-ea"/>
              </a:rPr>
              <a:t>• • 3.3.4 break 与 continue：控制流的提前跳转与素数判定试除优化。</a:t>
            </a:r>
            <a:endParaRPr sz="1800" b="0">
              <a:solidFill>
                <a:srgbClr val="282828"/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+mn-ea"/>
                <a:ea typeface="+mn-ea"/>
                <a:cs typeface="+mn-ea"/>
              </a:rPr>
              <a:t>• • 3.3.5 穷举与迭代：全状态空间扫描剪枝（百钱买百鸡降维）与递推滑动窗口（斐波那契数列）。</a:t>
            </a:r>
            <a:endParaRPr sz="1800" b="0">
              <a:solidFill>
                <a:srgbClr val="282828"/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+mn-ea"/>
                <a:ea typeface="+mn-ea"/>
                <a:cs typeface="+mn-ea"/>
              </a:rPr>
              <a:t>• 3.4 流程控制综合实例：四则运算口算机与猜拳博弈状态机。</a:t>
            </a:r>
            <a:endParaRPr sz="1800" b="0">
              <a:solidFill>
                <a:srgbClr val="282828"/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 sz="1650" b="0">
                <a:solidFill>
                  <a:srgbClr val="282828"/>
                </a:solidFill>
                <a:latin typeface="微软雅黑"/>
                <a:ea typeface="微软雅黑"/>
              </a:defRPr>
            </a:pPr>
            <a:r>
              <a:rPr sz="1800" b="0">
                <a:solidFill>
                  <a:srgbClr val="282828"/>
                </a:solidFill>
                <a:latin typeface="+mn-ea"/>
                <a:ea typeface="+mn-ea"/>
                <a:cs typeface="+mn-ea"/>
              </a:rPr>
              <a:t>• 实操交付：《第3章 流程控制 实验报告任务书》填报规范与平时分评定。</a:t>
            </a:r>
            <a:endParaRPr sz="1800" b="0">
              <a:solidFill>
                <a:srgbClr val="282828"/>
              </a:solidFill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commondata" val="eyJoZGlkIjoiYTc2ZGZiNzZiNDVlOGViOWVmM2JhOTY0NGJkNjUyYzg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演示设计">
  <a:themeElements>
    <a:clrScheme name="1_演示设计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FF0517"/>
      </a:accent1>
      <a:accent2>
        <a:srgbClr val="BC000D"/>
      </a:accent2>
      <a:accent3>
        <a:srgbClr val="FFFFFF"/>
      </a:accent3>
      <a:accent4>
        <a:srgbClr val="000000"/>
      </a:accent4>
      <a:accent5>
        <a:srgbClr val="FFAAAB"/>
      </a:accent5>
      <a:accent6>
        <a:srgbClr val="AA000B"/>
      </a:accent6>
      <a:hlink>
        <a:srgbClr val="3A0004"/>
      </a:hlink>
      <a:folHlink>
        <a:srgbClr val="FF3B3B"/>
      </a:folHlink>
    </a:clrScheme>
    <a:fontScheme name="1_演示设计">
      <a:majorFont>
        <a:latin typeface="华文细黑"/>
        <a:ea typeface="黑体"/>
        <a:cs typeface=""/>
      </a:majorFont>
      <a:minorFont>
        <a:latin typeface="华文细黑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演示设计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517"/>
        </a:accent1>
        <a:accent2>
          <a:srgbClr val="BC000D"/>
        </a:accent2>
        <a:accent3>
          <a:srgbClr val="FFFFFF"/>
        </a:accent3>
        <a:accent4>
          <a:srgbClr val="000000"/>
        </a:accent4>
        <a:accent5>
          <a:srgbClr val="FFAAAB"/>
        </a:accent5>
        <a:accent6>
          <a:srgbClr val="AA000B"/>
        </a:accent6>
        <a:hlink>
          <a:srgbClr val="3A0004"/>
        </a:hlink>
        <a:folHlink>
          <a:srgbClr val="FF3B3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演示设计">
  <a:themeElements>
    <a:clrScheme name="演示设计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FF0517"/>
      </a:accent1>
      <a:accent2>
        <a:srgbClr val="BC000D"/>
      </a:accent2>
      <a:accent3>
        <a:srgbClr val="FFFFFF"/>
      </a:accent3>
      <a:accent4>
        <a:srgbClr val="000000"/>
      </a:accent4>
      <a:accent5>
        <a:srgbClr val="FFAAAB"/>
      </a:accent5>
      <a:accent6>
        <a:srgbClr val="AA000B"/>
      </a:accent6>
      <a:hlink>
        <a:srgbClr val="3A0004"/>
      </a:hlink>
      <a:folHlink>
        <a:srgbClr val="FF3B3B"/>
      </a:folHlink>
    </a:clrScheme>
    <a:fontScheme name="演示设计">
      <a:majorFont>
        <a:latin typeface="华文细黑"/>
        <a:ea typeface="黑体"/>
        <a:cs typeface=""/>
      </a:majorFont>
      <a:minorFont>
        <a:latin typeface="华文细黑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演示设计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517"/>
        </a:accent1>
        <a:accent2>
          <a:srgbClr val="BC000D"/>
        </a:accent2>
        <a:accent3>
          <a:srgbClr val="FFFFFF"/>
        </a:accent3>
        <a:accent4>
          <a:srgbClr val="000000"/>
        </a:accent4>
        <a:accent5>
          <a:srgbClr val="FFAAAB"/>
        </a:accent5>
        <a:accent6>
          <a:srgbClr val="AA000B"/>
        </a:accent6>
        <a:hlink>
          <a:srgbClr val="3A0004"/>
        </a:hlink>
        <a:folHlink>
          <a:srgbClr val="FF3B3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14385</Words>
  <Application>WPS 演示</Application>
  <PresentationFormat>自定义</PresentationFormat>
  <Paragraphs>541</Paragraphs>
  <Slides>31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31</vt:i4>
      </vt:variant>
    </vt:vector>
  </HeadingPairs>
  <TitlesOfParts>
    <vt:vector size="62" baseType="lpstr">
      <vt:lpstr>Arial</vt:lpstr>
      <vt:lpstr>宋体</vt:lpstr>
      <vt:lpstr>Wingdings</vt:lpstr>
      <vt:lpstr>Calibri</vt:lpstr>
      <vt:lpstr>Helvetica Neue</vt:lpstr>
      <vt:lpstr>汉仪书宋二KW</vt:lpstr>
      <vt:lpstr>南宋书局体</vt:lpstr>
      <vt:lpstr>华文细黑</vt:lpstr>
      <vt:lpstr>黑体-简</vt:lpstr>
      <vt:lpstr>黑体</vt:lpstr>
      <vt:lpstr>汉仪中黑KW</vt:lpstr>
      <vt:lpstr>方正大黑简体</vt:lpstr>
      <vt:lpstr>微软雅黑</vt:lpstr>
      <vt:lpstr>方正雅意黑 GB18030L2</vt:lpstr>
      <vt:lpstr>微软雅黑</vt:lpstr>
      <vt:lpstr>Consolas</vt:lpstr>
      <vt:lpstr>Calibri Light</vt:lpstr>
      <vt:lpstr>Thonburi</vt:lpstr>
      <vt:lpstr>宋体</vt:lpstr>
      <vt:lpstr>Arial Unicode MS</vt:lpstr>
      <vt:lpstr>FangS-SC</vt:lpstr>
      <vt:lpstr>仿宋-简</vt:lpstr>
      <vt:lpstr>Consolas</vt:lpstr>
      <vt:lpstr>微软雅黑</vt:lpstr>
      <vt:lpstr>苹方-简</vt:lpstr>
      <vt:lpstr>Apple Color Emoji</vt:lpstr>
      <vt:lpstr>Office 主题</vt:lpstr>
      <vt:lpstr>1_演示设计</vt:lpstr>
      <vt:lpstr>演示设计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Hu Jiecheng</cp:lastModifiedBy>
  <cp:revision>676</cp:revision>
  <dcterms:created xsi:type="dcterms:W3CDTF">2026-09-23T05:02:56Z</dcterms:created>
  <dcterms:modified xsi:type="dcterms:W3CDTF">2026-09-23T05:02:56Z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0F306E098E734AC3889F3504F3040A26_12</vt:lpwstr>
  </property>
</Properties>
</file>